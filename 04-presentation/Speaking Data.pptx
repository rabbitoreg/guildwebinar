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2"/>
    <p:sldId id="308" r:id="rId3"/>
    <p:sldId id="288" r:id="rId4"/>
    <p:sldId id="280" r:id="rId5"/>
    <p:sldId id="281" r:id="rId6"/>
    <p:sldId id="282" r:id="rId7"/>
    <p:sldId id="283" r:id="rId8"/>
    <p:sldId id="285" r:id="rId9"/>
    <p:sldId id="311" r:id="rId10"/>
    <p:sldId id="260" r:id="rId11"/>
    <p:sldId id="284" r:id="rId12"/>
    <p:sldId id="289" r:id="rId13"/>
    <p:sldId id="312" r:id="rId14"/>
    <p:sldId id="305" r:id="rId15"/>
    <p:sldId id="286" r:id="rId16"/>
    <p:sldId id="306" r:id="rId17"/>
    <p:sldId id="313" r:id="rId18"/>
    <p:sldId id="293" r:id="rId19"/>
    <p:sldId id="257" r:id="rId20"/>
    <p:sldId id="258" r:id="rId21"/>
    <p:sldId id="259" r:id="rId22"/>
    <p:sldId id="279" r:id="rId23"/>
    <p:sldId id="261" r:id="rId24"/>
    <p:sldId id="262" r:id="rId25"/>
    <p:sldId id="263" r:id="rId26"/>
    <p:sldId id="264" r:id="rId27"/>
    <p:sldId id="291" r:id="rId28"/>
    <p:sldId id="314" r:id="rId29"/>
    <p:sldId id="294" r:id="rId30"/>
    <p:sldId id="295" r:id="rId31"/>
    <p:sldId id="296" r:id="rId32"/>
    <p:sldId id="287" r:id="rId33"/>
    <p:sldId id="297" r:id="rId34"/>
    <p:sldId id="298" r:id="rId35"/>
    <p:sldId id="299" r:id="rId36"/>
    <p:sldId id="300" r:id="rId37"/>
    <p:sldId id="315" r:id="rId38"/>
    <p:sldId id="310" r:id="rId39"/>
    <p:sldId id="309" r:id="rId40"/>
    <p:sldId id="301" r:id="rId41"/>
    <p:sldId id="302" r:id="rId42"/>
    <p:sldId id="303" r:id="rId43"/>
    <p:sldId id="276" r:id="rId44"/>
    <p:sldId id="277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77" d="100"/>
          <a:sy n="77" d="100"/>
        </p:scale>
        <p:origin x="160" y="6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work\claude-code-root\guild-webinar\02-data\ai_adoption_survey_data_raw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2F5496"/>
                </a:solidFill>
                <a:latin typeface="+mn-lt"/>
                <a:ea typeface="+mn-ea"/>
                <a:cs typeface="+mn-cs"/>
              </a:defRPr>
            </a:pPr>
            <a:r>
              <a:rPr lang="en-US" sz="3600" dirty="0">
                <a:solidFill>
                  <a:schemeClr val="tx1"/>
                </a:solidFill>
              </a:rPr>
              <a:t>AI Adoption Survey — Top Themes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2F5496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'Word Cloud'!$B$1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cat>
            <c:strRef>
              <c:f>'Word Cloud'!$A$2:$A$26</c:f>
              <c:strCache>
                <c:ptCount val="25"/>
                <c:pt idx="0">
                  <c:v>Time</c:v>
                </c:pt>
                <c:pt idx="1">
                  <c:v>Drafting</c:v>
                </c:pt>
                <c:pt idx="2">
                  <c:v>Prompts / Prompting</c:v>
                </c:pt>
                <c:pt idx="3">
                  <c:v>Access</c:v>
                </c:pt>
                <c:pt idx="4">
                  <c:v>Training</c:v>
                </c:pt>
                <c:pt idx="5">
                  <c:v>Workflow</c:v>
                </c:pt>
                <c:pt idx="6">
                  <c:v>Learning</c:v>
                </c:pt>
                <c:pt idx="7">
                  <c:v>Summarizing</c:v>
                </c:pt>
                <c:pt idx="8">
                  <c:v>Brainstorming</c:v>
                </c:pt>
                <c:pt idx="9">
                  <c:v>Evidence</c:v>
                </c:pt>
                <c:pt idx="10">
                  <c:v>Compliance</c:v>
                </c:pt>
                <c:pt idx="11">
                  <c:v>Manager</c:v>
                </c:pt>
                <c:pt idx="12">
                  <c:v>Integration</c:v>
                </c:pt>
                <c:pt idx="13">
                  <c:v>Experimentation</c:v>
                </c:pt>
                <c:pt idx="14">
                  <c:v>Accuracy</c:v>
                </c:pt>
                <c:pt idx="15">
                  <c:v>Rollout</c:v>
                </c:pt>
                <c:pt idx="16">
                  <c:v>Data Privacy</c:v>
                </c:pt>
                <c:pt idx="17">
                  <c:v>Trust</c:v>
                </c:pt>
                <c:pt idx="18">
                  <c:v>Peer Support</c:v>
                </c:pt>
                <c:pt idx="19">
                  <c:v>Approval Process</c:v>
                </c:pt>
                <c:pt idx="20">
                  <c:v>Team Culture</c:v>
                </c:pt>
                <c:pt idx="21">
                  <c:v>Mentorship</c:v>
                </c:pt>
                <c:pt idx="22">
                  <c:v>Safe Environment</c:v>
                </c:pt>
                <c:pt idx="23">
                  <c:v>Sandbox</c:v>
                </c:pt>
                <c:pt idx="24">
                  <c:v>Role-Specific</c:v>
                </c:pt>
              </c:strCache>
            </c:strRef>
          </c:cat>
          <c:val>
            <c:numRef>
              <c:f>'Word Cloud'!$B$2:$B$26</c:f>
              <c:numCache>
                <c:formatCode>#,##0</c:formatCode>
                <c:ptCount val="25"/>
                <c:pt idx="0">
                  <c:v>68</c:v>
                </c:pt>
                <c:pt idx="1">
                  <c:v>30</c:v>
                </c:pt>
                <c:pt idx="2">
                  <c:v>29</c:v>
                </c:pt>
                <c:pt idx="3">
                  <c:v>28</c:v>
                </c:pt>
                <c:pt idx="4">
                  <c:v>27</c:v>
                </c:pt>
                <c:pt idx="5">
                  <c:v>23</c:v>
                </c:pt>
                <c:pt idx="6">
                  <c:v>22</c:v>
                </c:pt>
                <c:pt idx="7">
                  <c:v>19</c:v>
                </c:pt>
                <c:pt idx="8">
                  <c:v>18</c:v>
                </c:pt>
                <c:pt idx="9">
                  <c:v>18</c:v>
                </c:pt>
                <c:pt idx="10">
                  <c:v>17</c:v>
                </c:pt>
                <c:pt idx="11">
                  <c:v>13</c:v>
                </c:pt>
                <c:pt idx="12">
                  <c:v>12</c:v>
                </c:pt>
                <c:pt idx="13">
                  <c:v>12</c:v>
                </c:pt>
                <c:pt idx="14">
                  <c:v>11</c:v>
                </c:pt>
                <c:pt idx="15">
                  <c:v>10</c:v>
                </c:pt>
                <c:pt idx="16">
                  <c:v>9</c:v>
                </c:pt>
                <c:pt idx="17">
                  <c:v>9</c:v>
                </c:pt>
                <c:pt idx="18">
                  <c:v>9</c:v>
                </c:pt>
                <c:pt idx="19">
                  <c:v>8</c:v>
                </c:pt>
                <c:pt idx="20">
                  <c:v>8</c:v>
                </c:pt>
                <c:pt idx="21">
                  <c:v>6</c:v>
                </c:pt>
                <c:pt idx="22">
                  <c:v>6</c:v>
                </c:pt>
                <c:pt idx="23">
                  <c:v>5</c:v>
                </c:pt>
                <c:pt idx="2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D0-479C-985F-C49B88F3AA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9051695"/>
        <c:axId val="129047855"/>
      </c:barChart>
      <c:catAx>
        <c:axId val="12905169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047855"/>
        <c:crosses val="autoZero"/>
        <c:auto val="1"/>
        <c:lblAlgn val="ctr"/>
        <c:lblOffset val="100"/>
        <c:noMultiLvlLbl val="0"/>
      </c:catAx>
      <c:valAx>
        <c:axId val="129047855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Mentions across all responses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0516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4/13/2026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4/13/2026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32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56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422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97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26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84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771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085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478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326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39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241963"/>
            <a:ext cx="10972800" cy="1711037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  <a:latin typeface="Source Sans 3"/>
              </a:rPr>
              <a:t>Speaking Data: The Language of Impact and Behavior Change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AI-powered human process of turning data into actionable insights</a:t>
            </a:r>
            <a:endParaRPr lang="en-US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FC18F-BACF-834C-7C6C-C3A520D41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0B678-6C68-A8D0-DC3E-6308E26CB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your company is having “challenges” with AI adoption. Senior leadership wants you to solve this by rolling out a mandatory training program for everyone.</a:t>
            </a:r>
          </a:p>
        </p:txBody>
      </p:sp>
    </p:spTree>
    <p:extLst>
      <p:ext uri="{BB962C8B-B14F-4D97-AF65-F5344CB8AC3E}">
        <p14:creationId xmlns:p14="http://schemas.microsoft.com/office/powerpoint/2010/main" val="2434371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541537"/>
            <a:ext cx="1036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867" dirty="0">
                <a:solidFill>
                  <a:srgbClr val="FFFFFF"/>
                </a:solidFill>
                <a:latin typeface="Source Sans 3"/>
              </a:rPr>
              <a:t>Scenario: AI Adoption Gap Survey</a:t>
            </a:r>
            <a:endParaRPr lang="en-US" sz="5867" dirty="0"/>
          </a:p>
        </p:txBody>
      </p:sp>
      <p:sp>
        <p:nvSpPr>
          <p:cNvPr id="15" name="Text 13"/>
          <p:cNvSpPr/>
          <p:nvPr/>
        </p:nvSpPr>
        <p:spPr>
          <a:xfrm>
            <a:off x="609600" y="62179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33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5C0B1B-2E40-1BA3-CF44-171048F7173E}"/>
              </a:ext>
            </a:extLst>
          </p:cNvPr>
          <p:cNvSpPr/>
          <p:nvPr/>
        </p:nvSpPr>
        <p:spPr>
          <a:xfrm>
            <a:off x="-118534" y="3570549"/>
            <a:ext cx="13114867" cy="11260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09600" y="3724734"/>
            <a:ext cx="10363200" cy="309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wanted mandatory training for all</a:t>
            </a:r>
            <a:endParaRPr lang="en-US" sz="2667" dirty="0">
              <a:solidFill>
                <a:srgbClr val="00B05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4133577"/>
            <a:ext cx="9144000" cy="4559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kern="0" spc="27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But, agreed to run a survey to sample the AI adoption gap first.</a:t>
            </a:r>
            <a:endParaRPr lang="en-US" sz="2133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04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673A1B-D0BE-2178-73D9-FCAAD2718E04}"/>
              </a:ext>
            </a:extLst>
          </p:cNvPr>
          <p:cNvSpPr/>
          <p:nvPr/>
        </p:nvSpPr>
        <p:spPr>
          <a:xfrm>
            <a:off x="1028700" y="1967266"/>
            <a:ext cx="2933700" cy="2547257"/>
          </a:xfrm>
          <a:prstGeom prst="rect">
            <a:avLst/>
          </a:prstGeom>
          <a:noFill/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3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 Adoption Survey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2667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(demographics)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0B655B-724D-59EB-FB49-6D422C324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0"/>
            <a:ext cx="4572000" cy="679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118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673A1B-D0BE-2178-73D9-FCAAD2718E04}"/>
              </a:ext>
            </a:extLst>
          </p:cNvPr>
          <p:cNvSpPr/>
          <p:nvPr/>
        </p:nvSpPr>
        <p:spPr>
          <a:xfrm>
            <a:off x="1028701" y="1967266"/>
            <a:ext cx="2628900" cy="2547257"/>
          </a:xfrm>
          <a:prstGeom prst="rect">
            <a:avLst/>
          </a:prstGeom>
          <a:noFill/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3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 Adoption Survey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2667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(Likert scale)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0B655B-724D-59EB-FB49-6D422C324A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345462" y="816211"/>
            <a:ext cx="7373573" cy="534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23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673A1B-D0BE-2178-73D9-FCAAD2718E04}"/>
              </a:ext>
            </a:extLst>
          </p:cNvPr>
          <p:cNvSpPr/>
          <p:nvPr/>
        </p:nvSpPr>
        <p:spPr>
          <a:xfrm>
            <a:off x="1028701" y="1967266"/>
            <a:ext cx="2628900" cy="2547257"/>
          </a:xfrm>
          <a:prstGeom prst="rect">
            <a:avLst/>
          </a:prstGeom>
          <a:noFill/>
        </p:spPr>
        <p:txBody>
          <a:bodyPr vert="horz" lIns="121920" tIns="60960" rIns="121920" bIns="6096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3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 Adoption Survey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2667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(open-text)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0B655B-724D-59EB-FB49-6D422C324A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362163" y="2429085"/>
            <a:ext cx="7373573" cy="199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27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673A1B-D0BE-2178-73D9-FCAAD2718E04}"/>
              </a:ext>
            </a:extLst>
          </p:cNvPr>
          <p:cNvSpPr/>
          <p:nvPr/>
        </p:nvSpPr>
        <p:spPr>
          <a:xfrm>
            <a:off x="640080" y="5715000"/>
            <a:ext cx="10911840" cy="640081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2800" b="1" dirty="0">
                <a:latin typeface="+mj-lt"/>
                <a:ea typeface="+mj-ea"/>
                <a:cs typeface="+mj-cs"/>
              </a:rPr>
              <a:t>AI Adoption Survey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2800" b="1" dirty="0">
                <a:latin typeface="+mj-lt"/>
                <a:ea typeface="+mj-ea"/>
                <a:cs typeface="+mj-cs"/>
              </a:rPr>
              <a:t>(raw data)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DB3F0A-B83A-6F09-C732-E6B228C3C0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7" r="1" b="5895"/>
          <a:stretch>
            <a:fillRect/>
          </a:stretch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01132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541537"/>
            <a:ext cx="1036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867" dirty="0">
                <a:solidFill>
                  <a:srgbClr val="FFFFFF"/>
                </a:solidFill>
                <a:latin typeface="Source Sans 3"/>
              </a:rPr>
              <a:t>How to report out the survey results?</a:t>
            </a:r>
            <a:endParaRPr lang="en-US" sz="5867" dirty="0"/>
          </a:p>
        </p:txBody>
      </p:sp>
      <p:sp>
        <p:nvSpPr>
          <p:cNvPr id="15" name="Text 13"/>
          <p:cNvSpPr/>
          <p:nvPr/>
        </p:nvSpPr>
        <p:spPr>
          <a:xfrm>
            <a:off x="609600" y="62179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33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19B3065E-72C6-41DD-4A30-CDA7EFFE3705}"/>
              </a:ext>
            </a:extLst>
          </p:cNvPr>
          <p:cNvSpPr/>
          <p:nvPr/>
        </p:nvSpPr>
        <p:spPr>
          <a:xfrm>
            <a:off x="715655" y="3339438"/>
            <a:ext cx="3541524" cy="247263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Individual questions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Averages on Likert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Summary of open-text </a:t>
            </a: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53A4E387-D97D-A2A2-8DBE-6DE71F9965A6}"/>
              </a:ext>
            </a:extLst>
          </p:cNvPr>
          <p:cNvSpPr/>
          <p:nvPr/>
        </p:nvSpPr>
        <p:spPr>
          <a:xfrm>
            <a:off x="4378266" y="3339438"/>
            <a:ext cx="3541524" cy="247263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AI summary of raw data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AI recommendations of actions</a:t>
            </a:r>
          </a:p>
          <a:p>
            <a:endParaRPr lang="en-US" sz="2400" dirty="0"/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5469C7B3-B609-87D0-6ACE-CBA78625BC7C}"/>
              </a:ext>
            </a:extLst>
          </p:cNvPr>
          <p:cNvSpPr/>
          <p:nvPr/>
        </p:nvSpPr>
        <p:spPr>
          <a:xfrm>
            <a:off x="8040877" y="3339437"/>
            <a:ext cx="3541524" cy="247263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Quantitative data insights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Response patterns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Actionable recommendations based on responses </a:t>
            </a:r>
          </a:p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E5C1B6-5C75-4FE6-E144-2D5D22DFB95E}"/>
              </a:ext>
            </a:extLst>
          </p:cNvPr>
          <p:cNvSpPr txBox="1"/>
          <p:nvPr/>
        </p:nvSpPr>
        <p:spPr>
          <a:xfrm>
            <a:off x="1502152" y="5790798"/>
            <a:ext cx="21130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A) Human-only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788E0B-7981-0CD5-A281-B0BAA23C8F2A}"/>
              </a:ext>
            </a:extLst>
          </p:cNvPr>
          <p:cNvSpPr txBox="1"/>
          <p:nvPr/>
        </p:nvSpPr>
        <p:spPr>
          <a:xfrm>
            <a:off x="5528558" y="5812074"/>
            <a:ext cx="1435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B) AI only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27E176-ED7D-0072-8A54-7257B07C916E}"/>
              </a:ext>
            </a:extLst>
          </p:cNvPr>
          <p:cNvSpPr txBox="1"/>
          <p:nvPr/>
        </p:nvSpPr>
        <p:spPr>
          <a:xfrm>
            <a:off x="8283816" y="5812074"/>
            <a:ext cx="3055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C) AI-Powered Human</a:t>
            </a:r>
          </a:p>
        </p:txBody>
      </p:sp>
    </p:spTree>
    <p:extLst>
      <p:ext uri="{BB962C8B-B14F-4D97-AF65-F5344CB8AC3E}">
        <p14:creationId xmlns:p14="http://schemas.microsoft.com/office/powerpoint/2010/main" val="712172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FC18F-BACF-834C-7C6C-C3A520D41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Human-Only Approach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0B678-6C68-A8D0-DC3E-6308E26CB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Requires expertise, resources, and tools. Time-consuming but predictable.</a:t>
            </a:r>
          </a:p>
        </p:txBody>
      </p:sp>
    </p:spTree>
    <p:extLst>
      <p:ext uri="{BB962C8B-B14F-4D97-AF65-F5344CB8AC3E}">
        <p14:creationId xmlns:p14="http://schemas.microsoft.com/office/powerpoint/2010/main" val="599281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Results (usual reporting)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600" y="1341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You’ve surveyed the organization about AI adoption. The data is in. Your stakeholders expect a report. 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21280" cy="1767840"/>
          </a:xfrm>
          <a:prstGeom prst="rect">
            <a:avLst/>
          </a:prstGeom>
          <a:solidFill>
            <a:srgbClr val="122030"/>
          </a:solidFill>
          <a:ln w="635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2133600"/>
            <a:ext cx="26212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5867" dirty="0">
              <a:solidFill>
                <a:schemeClr val="accent6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194304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548640" y="3535680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seems okay</a:t>
            </a:r>
            <a:endParaRPr lang="en-US" sz="1267" dirty="0"/>
          </a:p>
        </p:txBody>
      </p:sp>
      <p:sp>
        <p:nvSpPr>
          <p:cNvPr id="8" name="Shape 6"/>
          <p:cNvSpPr/>
          <p:nvPr/>
        </p:nvSpPr>
        <p:spPr>
          <a:xfrm>
            <a:off x="3413760" y="2011680"/>
            <a:ext cx="2621280" cy="1767840"/>
          </a:xfrm>
          <a:prstGeom prst="rect">
            <a:avLst/>
          </a:prstGeom>
          <a:solidFill>
            <a:srgbClr val="122030"/>
          </a:solidFill>
          <a:ln w="635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3413760" y="2133600"/>
            <a:ext cx="26212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5867" dirty="0">
              <a:solidFill>
                <a:schemeClr val="accent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413760" y="3194304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3413760" y="3535680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— watch this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6278880" y="2011680"/>
            <a:ext cx="2621280" cy="1767840"/>
          </a:xfrm>
          <a:prstGeom prst="rect">
            <a:avLst/>
          </a:prstGeom>
          <a:solidFill>
            <a:srgbClr val="122030"/>
          </a:solidFill>
          <a:ln w="635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6278880" y="2133600"/>
            <a:ext cx="26212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5867" dirty="0">
              <a:solidFill>
                <a:srgbClr val="C0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78880" y="3194304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Capability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6278880" y="3535680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midpoint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9144000" y="2011680"/>
            <a:ext cx="2621280" cy="1767840"/>
          </a:xfrm>
          <a:prstGeom prst="rect">
            <a:avLst/>
          </a:prstGeom>
          <a:solidFill>
            <a:srgbClr val="122030"/>
          </a:solidFill>
          <a:ln w="635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9144000" y="2133600"/>
            <a:ext cx="26212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5867" dirty="0">
              <a:solidFill>
                <a:srgbClr val="C0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0" y="3194304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9144000" y="3535680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concerning?</a:t>
            </a:r>
            <a:endParaRPr lang="en-US" sz="126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Results (usual reporting)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600" y="1341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You’ve surveyed the organization about AI adoption. The data is in. Your stakeholders expect a report. 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21280" cy="1767840"/>
          </a:xfrm>
          <a:prstGeom prst="rect">
            <a:avLst/>
          </a:prstGeom>
          <a:solidFill>
            <a:srgbClr val="122030"/>
          </a:solidFill>
          <a:ln w="635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2133600"/>
            <a:ext cx="26212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5867" dirty="0">
              <a:solidFill>
                <a:schemeClr val="accent6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194304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548640" y="3535680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seems okay</a:t>
            </a:r>
            <a:endParaRPr lang="en-US" sz="1267" dirty="0"/>
          </a:p>
        </p:txBody>
      </p:sp>
      <p:sp>
        <p:nvSpPr>
          <p:cNvPr id="8" name="Shape 6"/>
          <p:cNvSpPr/>
          <p:nvPr/>
        </p:nvSpPr>
        <p:spPr>
          <a:xfrm>
            <a:off x="3413760" y="2011680"/>
            <a:ext cx="2621280" cy="1767840"/>
          </a:xfrm>
          <a:prstGeom prst="rect">
            <a:avLst/>
          </a:prstGeom>
          <a:solidFill>
            <a:srgbClr val="122030"/>
          </a:solidFill>
          <a:ln w="635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3413760" y="2133600"/>
            <a:ext cx="26212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5867" dirty="0">
              <a:solidFill>
                <a:schemeClr val="accent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413760" y="3194304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3413760" y="3535680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— watch this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6278880" y="2011680"/>
            <a:ext cx="2621280" cy="1767840"/>
          </a:xfrm>
          <a:prstGeom prst="rect">
            <a:avLst/>
          </a:prstGeom>
          <a:solidFill>
            <a:srgbClr val="122030"/>
          </a:solidFill>
          <a:ln w="635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6278880" y="2133600"/>
            <a:ext cx="26212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5867" dirty="0">
              <a:solidFill>
                <a:srgbClr val="C0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78880" y="3194304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Capability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6278880" y="3535680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midpoint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9144000" y="2011680"/>
            <a:ext cx="2621280" cy="1767840"/>
          </a:xfrm>
          <a:prstGeom prst="rect">
            <a:avLst/>
          </a:prstGeom>
          <a:solidFill>
            <a:srgbClr val="122030"/>
          </a:solidFill>
          <a:ln w="635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9144000" y="2133600"/>
            <a:ext cx="26212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5867" dirty="0">
              <a:solidFill>
                <a:srgbClr val="C0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0" y="3194304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9144000" y="3535680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concerning?</a:t>
            </a:r>
            <a:endParaRPr lang="en-US" sz="1267" dirty="0"/>
          </a:p>
        </p:txBody>
      </p:sp>
      <p:sp>
        <p:nvSpPr>
          <p:cNvPr id="20" name="Shape 18"/>
          <p:cNvSpPr/>
          <p:nvPr/>
        </p:nvSpPr>
        <p:spPr>
          <a:xfrm>
            <a:off x="548640" y="4169664"/>
            <a:ext cx="11094720" cy="1828800"/>
          </a:xfrm>
          <a:prstGeom prst="rect">
            <a:avLst/>
          </a:prstGeom>
          <a:solidFill>
            <a:srgbClr val="F96167">
              <a:alpha val="12000"/>
            </a:srgbClr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92480" y="4328160"/>
            <a:ext cx="1036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numbers hide:</a:t>
            </a:r>
            <a:endParaRPr lang="en-US" sz="1733" dirty="0"/>
          </a:p>
        </p:txBody>
      </p:sp>
      <p:sp>
        <p:nvSpPr>
          <p:cNvPr id="22" name="Text 20"/>
          <p:cNvSpPr/>
          <p:nvPr/>
        </p:nvSpPr>
        <p:spPr>
          <a:xfrm>
            <a:off x="792480" y="4657344"/>
            <a:ext cx="1036320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of 3.2 on Motivation could mean everyone feels mildly positive — OR 35 people are deeply disengaged and 30 are intrinsically motivated. These two realities require completely different interventions. The average erases the difference.</a:t>
            </a:r>
            <a:endParaRPr lang="en-US" sz="1667" dirty="0"/>
          </a:p>
        </p:txBody>
      </p:sp>
    </p:spTree>
    <p:extLst>
      <p:ext uri="{BB962C8B-B14F-4D97-AF65-F5344CB8AC3E}">
        <p14:creationId xmlns:p14="http://schemas.microsoft.com/office/powerpoint/2010/main" val="948721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44938F6-A04F-08B4-3AD7-7C8C142B0E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7695779"/>
              </p:ext>
            </p:extLst>
          </p:nvPr>
        </p:nvGraphicFramePr>
        <p:xfrm>
          <a:off x="457200" y="-228600"/>
          <a:ext cx="10972800" cy="6972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15661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FC18F-BACF-834C-7C6C-C3A520D41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AI-Only Approach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0B678-6C68-A8D0-DC3E-6308E26CB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Quick, simple, and sometimes it may even be accurate. Except, it’s not deterministic.</a:t>
            </a:r>
          </a:p>
        </p:txBody>
      </p:sp>
    </p:spTree>
    <p:extLst>
      <p:ext uri="{BB962C8B-B14F-4D97-AF65-F5344CB8AC3E}">
        <p14:creationId xmlns:p14="http://schemas.microsoft.com/office/powerpoint/2010/main" val="459238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Results (AI raw data)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600" y="1341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Can I ask AI to be “deterministic?” – Replicability: same prompt, same answer.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74542" y="3221602"/>
            <a:ext cx="11094720" cy="1275223"/>
          </a:xfrm>
          <a:prstGeom prst="rect">
            <a:avLst/>
          </a:prstGeom>
          <a:solidFill>
            <a:schemeClr val="bg1">
              <a:lumMod val="95000"/>
              <a:alpha val="12000"/>
            </a:schemeClr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r>
              <a:rPr lang="en-US" sz="2400" dirty="0"/>
              <a:t>“</a:t>
            </a:r>
            <a:r>
              <a:rPr lang="en-US" sz="2400" b="1" dirty="0"/>
              <a:t>Determinism in LLM outputs comes from </a:t>
            </a:r>
            <a:r>
              <a:rPr lang="en-US" sz="2400" b="1" dirty="0">
                <a:solidFill>
                  <a:srgbClr val="00B050"/>
                </a:solidFill>
              </a:rPr>
              <a:t>narrowing optionality</a:t>
            </a:r>
            <a:r>
              <a:rPr lang="en-US" sz="2400" b="1" dirty="0"/>
              <a:t>, not from asking for determinism by name.</a:t>
            </a:r>
            <a:r>
              <a:rPr lang="en-US" sz="2400" dirty="0"/>
              <a:t> The more you specify what I </a:t>
            </a:r>
            <a:r>
              <a:rPr lang="en-US" sz="2400" i="1" dirty="0"/>
              <a:t>cannot</a:t>
            </a:r>
            <a:r>
              <a:rPr lang="en-US" sz="2400" dirty="0"/>
              <a:t> do, the more consistent the output becomes.”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8F356F-86BD-975C-65FC-B5BD02ECA0D6}"/>
              </a:ext>
            </a:extLst>
          </p:cNvPr>
          <p:cNvSpPr txBox="1"/>
          <p:nvPr/>
        </p:nvSpPr>
        <p:spPr>
          <a:xfrm>
            <a:off x="381000" y="2667000"/>
            <a:ext cx="1762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Claude says:</a:t>
            </a:r>
          </a:p>
        </p:txBody>
      </p:sp>
    </p:spTree>
    <p:extLst>
      <p:ext uri="{BB962C8B-B14F-4D97-AF65-F5344CB8AC3E}">
        <p14:creationId xmlns:p14="http://schemas.microsoft.com/office/powerpoint/2010/main" val="3764448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Results (AI raw data)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600" y="1341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Can I ask AI to be “deterministic?” – Replicability: same prompt, same answer.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2408044"/>
            <a:ext cx="11094720" cy="4175760"/>
          </a:xfrm>
          <a:prstGeom prst="rect">
            <a:avLst/>
          </a:prstGeom>
          <a:solidFill>
            <a:schemeClr val="bg1">
              <a:lumMod val="95000"/>
              <a:alpha val="12000"/>
            </a:schemeClr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r>
              <a:rPr lang="en-US" sz="2400" dirty="0"/>
              <a:t>Example prompt: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“Analyze the attached survey data using only the information provided. Do not infer, assume, or fill in gaps. For each finding, cite the specific column/question it comes from. Flag any data quality issues you encounter. Present results as: (1) summary statistics, (2) key patterns, (3) limitations. Do not draw conclusions beyond what the data directly supports."</a:t>
            </a:r>
          </a:p>
        </p:txBody>
      </p:sp>
    </p:spTree>
    <p:extLst>
      <p:ext uri="{BB962C8B-B14F-4D97-AF65-F5344CB8AC3E}">
        <p14:creationId xmlns:p14="http://schemas.microsoft.com/office/powerpoint/2010/main" val="3331415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54948" y="1600200"/>
            <a:ext cx="3732213" cy="1828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In-Excel Results</a:t>
            </a:r>
            <a:endParaRPr lang="en-US" sz="310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97ACFB-8B5C-C3C9-771E-6D4969E99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85" y="1295400"/>
            <a:ext cx="7758547" cy="426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3" name="Text 1"/>
          <p:cNvSpPr/>
          <p:nvPr/>
        </p:nvSpPr>
        <p:spPr>
          <a:xfrm>
            <a:off x="8153400" y="3429000"/>
            <a:ext cx="3581361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kern="1200" dirty="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rPr>
              <a:t>Built-in Copilot or Claude inside Excel can provide the results instantly.</a:t>
            </a:r>
          </a:p>
        </p:txBody>
      </p:sp>
    </p:spTree>
    <p:extLst>
      <p:ext uri="{BB962C8B-B14F-4D97-AF65-F5344CB8AC3E}">
        <p14:creationId xmlns:p14="http://schemas.microsoft.com/office/powerpoint/2010/main" val="1685364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FC18F-BACF-834C-7C6C-C3A520D41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AI-Powered Human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0B678-6C68-A8D0-DC3E-6308E26CB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Shifting AI’s role from “black box” pattern recognition to pattern description.</a:t>
            </a:r>
          </a:p>
        </p:txBody>
      </p:sp>
    </p:spTree>
    <p:extLst>
      <p:ext uri="{BB962C8B-B14F-4D97-AF65-F5344CB8AC3E}">
        <p14:creationId xmlns:p14="http://schemas.microsoft.com/office/powerpoint/2010/main" val="4255888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4145280"/>
            <a:ext cx="12192000" cy="2743200"/>
          </a:xfrm>
          <a:prstGeom prst="rect">
            <a:avLst/>
          </a:prstGeom>
          <a:solidFill>
            <a:srgbClr val="0A1520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731520"/>
            <a:ext cx="1036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HUMAN approach</a:t>
            </a:r>
            <a:endParaRPr lang="en-US" sz="5867" dirty="0"/>
          </a:p>
        </p:txBody>
      </p:sp>
      <p:sp>
        <p:nvSpPr>
          <p:cNvPr id="5" name="Text 3"/>
          <p:cNvSpPr/>
          <p:nvPr/>
        </p:nvSpPr>
        <p:spPr>
          <a:xfrm>
            <a:off x="609600" y="1341120"/>
            <a:ext cx="1036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actionable patterns in survey data</a:t>
            </a:r>
            <a:endParaRPr lang="en-US" sz="2667" dirty="0">
              <a:solidFill>
                <a:srgbClr val="00B05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73900" y="1584961"/>
            <a:ext cx="9144000" cy="724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kern="0" spc="2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to turn a standard employee survey into differentiated, evidence-based guidance your stakeholders will actually act on.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9600" y="4389120"/>
            <a:ext cx="2682240" cy="6096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609600" y="4389120"/>
            <a:ext cx="26822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Pattern Analysis (CPA)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474720" y="4389120"/>
            <a:ext cx="2682240" cy="609600"/>
          </a:xfrm>
          <a:prstGeom prst="rect">
            <a:avLst/>
          </a:prstGeom>
          <a:solidFill>
            <a:srgbClr val="F96167">
              <a:alpha val="20000"/>
            </a:srgbClr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3474720" y="4389120"/>
            <a:ext cx="26822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Non-negative Matrix Factorization (NMF)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339840" y="4389120"/>
            <a:ext cx="2682240" cy="609600"/>
          </a:xfrm>
          <a:prstGeom prst="rect">
            <a:avLst/>
          </a:prstGeom>
          <a:solidFill>
            <a:srgbClr val="F9A03F">
              <a:alpha val="20000"/>
            </a:srgbClr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339840" y="4389120"/>
            <a:ext cx="26822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MOJO Framework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9204960" y="4389120"/>
            <a:ext cx="2682240" cy="609600"/>
          </a:xfrm>
          <a:prstGeom prst="rect">
            <a:avLst/>
          </a:prstGeom>
          <a:solidFill>
            <a:srgbClr val="6D2E46">
              <a:alpha val="20000"/>
            </a:srgbClr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9204960" y="4389120"/>
            <a:ext cx="26822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Self-Determination Theory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E42B0A-15E5-FC20-4498-C19C03A82D1E}"/>
              </a:ext>
            </a:extLst>
          </p:cNvPr>
          <p:cNvSpPr/>
          <p:nvPr/>
        </p:nvSpPr>
        <p:spPr>
          <a:xfrm>
            <a:off x="1520660" y="3594759"/>
            <a:ext cx="860120" cy="860120"/>
          </a:xfrm>
          <a:prstGeom prst="ellipse">
            <a:avLst/>
          </a:prstGeom>
          <a:solidFill>
            <a:schemeClr val="tx1"/>
          </a:solidFill>
          <a:ln>
            <a:solidFill>
              <a:srgbClr val="028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9BA619F-ECCB-AEA1-8327-082C1ED1E04B}"/>
              </a:ext>
            </a:extLst>
          </p:cNvPr>
          <p:cNvSpPr/>
          <p:nvPr/>
        </p:nvSpPr>
        <p:spPr>
          <a:xfrm>
            <a:off x="4385780" y="3592255"/>
            <a:ext cx="860120" cy="860120"/>
          </a:xfrm>
          <a:prstGeom prst="ellipse">
            <a:avLst/>
          </a:prstGeom>
          <a:solidFill>
            <a:schemeClr val="tx1"/>
          </a:solidFill>
          <a:ln>
            <a:solidFill>
              <a:srgbClr val="F961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C4ABCFA-8801-FBD3-1207-7014A3D68880}"/>
              </a:ext>
            </a:extLst>
          </p:cNvPr>
          <p:cNvSpPr/>
          <p:nvPr/>
        </p:nvSpPr>
        <p:spPr>
          <a:xfrm>
            <a:off x="7245055" y="3581400"/>
            <a:ext cx="860120" cy="860120"/>
          </a:xfrm>
          <a:prstGeom prst="ellipse">
            <a:avLst/>
          </a:prstGeom>
          <a:solidFill>
            <a:schemeClr val="tx1"/>
          </a:solidFill>
          <a:ln>
            <a:solidFill>
              <a:srgbClr val="F9A0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9646349-3CFB-26CE-76DB-FF639B7633B5}"/>
              </a:ext>
            </a:extLst>
          </p:cNvPr>
          <p:cNvSpPr/>
          <p:nvPr/>
        </p:nvSpPr>
        <p:spPr>
          <a:xfrm>
            <a:off x="10112680" y="3611880"/>
            <a:ext cx="860120" cy="860120"/>
          </a:xfrm>
          <a:prstGeom prst="ellipse">
            <a:avLst/>
          </a:prstGeom>
          <a:solidFill>
            <a:schemeClr val="tx1"/>
          </a:solidFill>
          <a:ln>
            <a:solidFill>
              <a:srgbClr val="6D2E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404BF5F-A42E-5AE8-FE58-9F5F7B137A6A}"/>
              </a:ext>
            </a:extLst>
          </p:cNvPr>
          <p:cNvCxnSpPr/>
          <p:nvPr/>
        </p:nvCxnSpPr>
        <p:spPr>
          <a:xfrm>
            <a:off x="6246312" y="3163243"/>
            <a:ext cx="0" cy="3054677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5EA199C-6CE6-60B1-9C98-F07F149158A2}"/>
              </a:ext>
            </a:extLst>
          </p:cNvPr>
          <p:cNvSpPr txBox="1"/>
          <p:nvPr/>
        </p:nvSpPr>
        <p:spPr>
          <a:xfrm>
            <a:off x="8380497" y="5467177"/>
            <a:ext cx="2015295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 dirty="0"/>
              <a:t>Org Specific Steps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35A4CF-E5B0-89EC-AD8C-8667C97FC3B7}"/>
              </a:ext>
            </a:extLst>
          </p:cNvPr>
          <p:cNvSpPr txBox="1"/>
          <p:nvPr/>
        </p:nvSpPr>
        <p:spPr>
          <a:xfrm>
            <a:off x="2556032" y="5467179"/>
            <a:ext cx="1744388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 dirty="0"/>
              <a:t>Universal Steps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08320" cy="68580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26720" y="670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stakeholders</a:t>
            </a:r>
            <a:endParaRPr lang="en-US" sz="2933" dirty="0"/>
          </a:p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get: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463296" y="1706880"/>
            <a:ext cx="268224" cy="26822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53440" y="1870720"/>
            <a:ext cx="4389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slide deck of bar charts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63296" y="2462784"/>
            <a:ext cx="268224" cy="26822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853440" y="2584704"/>
            <a:ext cx="4389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percentages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3296" y="3218688"/>
            <a:ext cx="268224" cy="26822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853440" y="3382528"/>
            <a:ext cx="4389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Top-box scores by department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3296" y="3974592"/>
            <a:ext cx="268224" cy="26822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853440" y="4121732"/>
            <a:ext cx="4389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list of lowest-rated items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3296" y="4730496"/>
            <a:ext cx="268224" cy="26822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853440" y="4894336"/>
            <a:ext cx="4389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"Key themes" from a word cloud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6720" y="5791200"/>
            <a:ext cx="487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tells you what to do — or for whom.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5974080" y="670560"/>
            <a:ext cx="5852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do instead: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5913120" y="1584960"/>
            <a:ext cx="5852160" cy="792480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6096000" y="1633728"/>
            <a:ext cx="548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6766560" y="1645920"/>
            <a:ext cx="47548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who has similar response patterns — not just averages (quantitative)</a:t>
            </a:r>
            <a:endParaRPr lang="en-US" sz="1667" dirty="0"/>
          </a:p>
        </p:txBody>
      </p:sp>
      <p:sp>
        <p:nvSpPr>
          <p:cNvPr id="19" name="Shape 17"/>
          <p:cNvSpPr/>
          <p:nvPr/>
        </p:nvSpPr>
        <p:spPr>
          <a:xfrm>
            <a:off x="5913120" y="2523744"/>
            <a:ext cx="5852160" cy="792480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6096000" y="2572512"/>
            <a:ext cx="548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67" dirty="0"/>
          </a:p>
        </p:txBody>
      </p:sp>
      <p:sp>
        <p:nvSpPr>
          <p:cNvPr id="21" name="Text 19"/>
          <p:cNvSpPr/>
          <p:nvPr/>
        </p:nvSpPr>
        <p:spPr>
          <a:xfrm>
            <a:off x="6766560" y="2584704"/>
            <a:ext cx="47548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those groups are saying (qualitative)</a:t>
            </a:r>
            <a:endParaRPr lang="en-US" sz="1667" dirty="0"/>
          </a:p>
        </p:txBody>
      </p:sp>
      <p:sp>
        <p:nvSpPr>
          <p:cNvPr id="22" name="Shape 20"/>
          <p:cNvSpPr/>
          <p:nvPr/>
        </p:nvSpPr>
        <p:spPr>
          <a:xfrm>
            <a:off x="5913120" y="3462528"/>
            <a:ext cx="5852160" cy="792480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6096000" y="3511296"/>
            <a:ext cx="548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67" dirty="0"/>
          </a:p>
        </p:txBody>
      </p:sp>
      <p:sp>
        <p:nvSpPr>
          <p:cNvPr id="24" name="Text 22"/>
          <p:cNvSpPr/>
          <p:nvPr/>
        </p:nvSpPr>
        <p:spPr>
          <a:xfrm>
            <a:off x="6766560" y="3523488"/>
            <a:ext cx="47548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patterns to behavioral drivers (MOJO)</a:t>
            </a:r>
            <a:endParaRPr lang="en-US" sz="1667" dirty="0"/>
          </a:p>
        </p:txBody>
      </p:sp>
      <p:sp>
        <p:nvSpPr>
          <p:cNvPr id="25" name="Shape 23"/>
          <p:cNvSpPr/>
          <p:nvPr/>
        </p:nvSpPr>
        <p:spPr>
          <a:xfrm>
            <a:off x="5913120" y="4401312"/>
            <a:ext cx="5852160" cy="792480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6096000" y="4450080"/>
            <a:ext cx="548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67" dirty="0"/>
          </a:p>
        </p:txBody>
      </p:sp>
      <p:sp>
        <p:nvSpPr>
          <p:cNvPr id="27" name="Text 25"/>
          <p:cNvSpPr/>
          <p:nvPr/>
        </p:nvSpPr>
        <p:spPr>
          <a:xfrm>
            <a:off x="6766560" y="4462272"/>
            <a:ext cx="47548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motivation stage (SDT)</a:t>
            </a:r>
            <a:endParaRPr lang="en-US" sz="1667" dirty="0"/>
          </a:p>
        </p:txBody>
      </p:sp>
      <p:sp>
        <p:nvSpPr>
          <p:cNvPr id="28" name="Shape 26"/>
          <p:cNvSpPr/>
          <p:nvPr/>
        </p:nvSpPr>
        <p:spPr>
          <a:xfrm>
            <a:off x="5913120" y="5340096"/>
            <a:ext cx="5852160" cy="792480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6096000" y="5388864"/>
            <a:ext cx="548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67" dirty="0"/>
          </a:p>
        </p:txBody>
      </p:sp>
      <p:sp>
        <p:nvSpPr>
          <p:cNvPr id="30" name="Text 28"/>
          <p:cNvSpPr/>
          <p:nvPr/>
        </p:nvSpPr>
        <p:spPr>
          <a:xfrm>
            <a:off x="6766560" y="5401056"/>
            <a:ext cx="47548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interventions specific to each group</a:t>
            </a:r>
            <a:endParaRPr lang="en-US" sz="1667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1402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from raw survey data to differentiated action</a:t>
            </a:r>
            <a:endParaRPr lang="en-US" sz="1733" dirty="0"/>
          </a:p>
        </p:txBody>
      </p:sp>
      <p:sp>
        <p:nvSpPr>
          <p:cNvPr id="4" name="Shape 2"/>
          <p:cNvSpPr/>
          <p:nvPr/>
        </p:nvSpPr>
        <p:spPr>
          <a:xfrm>
            <a:off x="1280160" y="3291840"/>
            <a:ext cx="9631680" cy="97536"/>
          </a:xfrm>
          <a:prstGeom prst="rect">
            <a:avLst/>
          </a:prstGeom>
          <a:solidFill>
            <a:srgbClr val="DDE5E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219200" y="1889760"/>
            <a:ext cx="24384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1219200" y="18897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2218944" y="1645920"/>
            <a:ext cx="670560" cy="6705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2218944" y="164592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1365504" y="2316480"/>
            <a:ext cx="21336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</a:t>
            </a:r>
            <a:endParaRPr lang="en-US" sz="1733" dirty="0"/>
          </a:p>
          <a:p>
            <a:pPr algn="ctr"/>
            <a:r>
              <a:rPr lang="en-US" sz="1733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1365504" y="3230880"/>
            <a:ext cx="213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MOJO-aligned survey</a:t>
            </a:r>
            <a:endParaRPr lang="en-US" sz="1533" dirty="0"/>
          </a:p>
          <a:p>
            <a:pPr algn="ctr"/>
            <a:r>
              <a:rPr lang="en-US" sz="15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questions, 4 dimensions</a:t>
            </a:r>
            <a:endParaRPr lang="en-US" sz="1533" dirty="0"/>
          </a:p>
        </p:txBody>
      </p:sp>
      <p:sp>
        <p:nvSpPr>
          <p:cNvPr id="11" name="Text 9"/>
          <p:cNvSpPr/>
          <p:nvPr/>
        </p:nvSpPr>
        <p:spPr>
          <a:xfrm>
            <a:off x="3681984" y="3073401"/>
            <a:ext cx="2194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901440" y="1889760"/>
            <a:ext cx="24384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3901440" y="1889760"/>
            <a:ext cx="73152" cy="32918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4901184" y="1645920"/>
            <a:ext cx="670560" cy="6705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4901184" y="164592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33" dirty="0"/>
          </a:p>
        </p:txBody>
      </p:sp>
      <p:sp>
        <p:nvSpPr>
          <p:cNvPr id="16" name="Text 14"/>
          <p:cNvSpPr/>
          <p:nvPr/>
        </p:nvSpPr>
        <p:spPr>
          <a:xfrm>
            <a:off x="4047744" y="2316480"/>
            <a:ext cx="21336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733" dirty="0"/>
          </a:p>
          <a:p>
            <a:pPr algn="ctr"/>
            <a:r>
              <a:rPr lang="en-US" sz="1733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Analysis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4047744" y="3230880"/>
            <a:ext cx="213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K-Means</a:t>
            </a:r>
            <a:endParaRPr lang="en-US" sz="1533" dirty="0"/>
          </a:p>
          <a:p>
            <a:pPr algn="ctr"/>
            <a:r>
              <a:rPr lang="en-US" sz="15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quantitative clusters</a:t>
            </a:r>
            <a:endParaRPr lang="en-US" sz="1533" dirty="0"/>
          </a:p>
        </p:txBody>
      </p:sp>
      <p:sp>
        <p:nvSpPr>
          <p:cNvPr id="18" name="Text 16"/>
          <p:cNvSpPr/>
          <p:nvPr/>
        </p:nvSpPr>
        <p:spPr>
          <a:xfrm>
            <a:off x="6364224" y="3081868"/>
            <a:ext cx="2194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583680" y="1889760"/>
            <a:ext cx="24384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6583680" y="1889760"/>
            <a:ext cx="73152" cy="32918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7583424" y="1645920"/>
            <a:ext cx="670560" cy="67056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7583424" y="164592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33" dirty="0"/>
          </a:p>
        </p:txBody>
      </p:sp>
      <p:sp>
        <p:nvSpPr>
          <p:cNvPr id="23" name="Text 21"/>
          <p:cNvSpPr/>
          <p:nvPr/>
        </p:nvSpPr>
        <p:spPr>
          <a:xfrm>
            <a:off x="6729984" y="2316480"/>
            <a:ext cx="21336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NMF Topic</a:t>
            </a:r>
            <a:endParaRPr lang="en-US" sz="1733" dirty="0"/>
          </a:p>
          <a:p>
            <a:pPr algn="ctr"/>
            <a:r>
              <a:rPr lang="en-US" sz="1733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733" dirty="0"/>
          </a:p>
        </p:txBody>
      </p:sp>
      <p:sp>
        <p:nvSpPr>
          <p:cNvPr id="24" name="Text 22"/>
          <p:cNvSpPr/>
          <p:nvPr/>
        </p:nvSpPr>
        <p:spPr>
          <a:xfrm>
            <a:off x="6729984" y="3230880"/>
            <a:ext cx="213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text</a:t>
            </a:r>
            <a:endParaRPr lang="en-US" sz="1533" dirty="0"/>
          </a:p>
          <a:p>
            <a:pPr algn="ctr"/>
            <a:r>
              <a:rPr lang="en-US" sz="15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qualitative themes</a:t>
            </a:r>
            <a:endParaRPr lang="en-US" sz="1533" dirty="0"/>
          </a:p>
        </p:txBody>
      </p:sp>
      <p:sp>
        <p:nvSpPr>
          <p:cNvPr id="25" name="Text 23"/>
          <p:cNvSpPr/>
          <p:nvPr/>
        </p:nvSpPr>
        <p:spPr>
          <a:xfrm>
            <a:off x="9046464" y="3081868"/>
            <a:ext cx="2194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265920" y="1889760"/>
            <a:ext cx="24384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9265920" y="1889760"/>
            <a:ext cx="73152" cy="3291840"/>
          </a:xfrm>
          <a:prstGeom prst="rect">
            <a:avLst/>
          </a:prstGeom>
          <a:solidFill>
            <a:srgbClr val="F9A03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Shape 26"/>
          <p:cNvSpPr/>
          <p:nvPr/>
        </p:nvSpPr>
        <p:spPr>
          <a:xfrm>
            <a:off x="10265664" y="1645920"/>
            <a:ext cx="670560" cy="670560"/>
          </a:xfrm>
          <a:prstGeom prst="ellipse">
            <a:avLst/>
          </a:prstGeom>
          <a:solidFill>
            <a:srgbClr val="F9A03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10265664" y="164592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33" dirty="0"/>
          </a:p>
        </p:txBody>
      </p:sp>
      <p:sp>
        <p:nvSpPr>
          <p:cNvPr id="30" name="Text 28"/>
          <p:cNvSpPr/>
          <p:nvPr/>
        </p:nvSpPr>
        <p:spPr>
          <a:xfrm>
            <a:off x="9412224" y="2316480"/>
            <a:ext cx="21336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+</a:t>
            </a:r>
            <a:endParaRPr lang="en-US" sz="1733" dirty="0"/>
          </a:p>
          <a:p>
            <a:pPr algn="ctr"/>
            <a:r>
              <a:rPr lang="en-US" sz="1733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733" dirty="0"/>
          </a:p>
        </p:txBody>
      </p:sp>
      <p:sp>
        <p:nvSpPr>
          <p:cNvPr id="31" name="Text 29"/>
          <p:cNvSpPr/>
          <p:nvPr/>
        </p:nvSpPr>
        <p:spPr>
          <a:xfrm>
            <a:off x="9412224" y="3230880"/>
            <a:ext cx="213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MOJO × SDT</a:t>
            </a:r>
            <a:endParaRPr lang="en-US" sz="1533" dirty="0"/>
          </a:p>
          <a:p>
            <a:pPr algn="ctr"/>
            <a:r>
              <a:rPr lang="en-US" sz="15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guidance</a:t>
            </a:r>
            <a:endParaRPr lang="en-US" sz="1533" dirty="0"/>
          </a:p>
        </p:txBody>
      </p:sp>
      <p:sp>
        <p:nvSpPr>
          <p:cNvPr id="32" name="Text 30"/>
          <p:cNvSpPr/>
          <p:nvPr/>
        </p:nvSpPr>
        <p:spPr>
          <a:xfrm>
            <a:off x="609600" y="63398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dataset: 180 simulated employee responses · Tech company · AI adoption survey</a:t>
            </a:r>
            <a:endParaRPr lang="en-US" sz="133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Survey: Built Around MOJO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1402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measures a distinct behavioral dimension</a:t>
            </a:r>
            <a:endParaRPr lang="en-US" sz="1733" dirty="0"/>
          </a:p>
        </p:txBody>
      </p:sp>
      <p:sp>
        <p:nvSpPr>
          <p:cNvPr id="4" name="Shape 2"/>
          <p:cNvSpPr/>
          <p:nvPr/>
        </p:nvSpPr>
        <p:spPr>
          <a:xfrm>
            <a:off x="548640" y="1706880"/>
            <a:ext cx="560832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706880"/>
            <a:ext cx="73152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Motivation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4178301" y="1706881"/>
            <a:ext cx="2033524" cy="2682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they WANT / PLAN to?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731520" y="2218944"/>
            <a:ext cx="5242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 believe AI can improve the quality of my work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731520" y="2682240"/>
            <a:ext cx="5242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I'm motivated to experiment with new AI capabilities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731520" y="3145536"/>
            <a:ext cx="5242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Using AI aligns with my professional values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548640" y="4145280"/>
            <a:ext cx="560832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548640" y="4145280"/>
            <a:ext cx="73152" cy="21945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731520" y="426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Opportunity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4178301" y="4108703"/>
            <a:ext cx="2033524" cy="365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they ACT / PRACTICE?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731520" y="4657344"/>
            <a:ext cx="5242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 have sufficient time to explore AI tools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731520" y="5120640"/>
            <a:ext cx="5242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 manager actively supports AI use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731520" y="5583936"/>
            <a:ext cx="5242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 have access to the tools I need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6461760" y="1706880"/>
            <a:ext cx="560832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6461760" y="1706880"/>
            <a:ext cx="73152" cy="2194560"/>
          </a:xfrm>
          <a:prstGeom prst="rect">
            <a:avLst/>
          </a:prstGeom>
          <a:solidFill>
            <a:srgbClr val="F9A03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6644640" y="1828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— Job Capability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10631876" y="1742558"/>
            <a:ext cx="1463040" cy="2438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ABLE?</a:t>
            </a:r>
            <a:endParaRPr lang="en-US" sz="1333" dirty="0"/>
          </a:p>
        </p:txBody>
      </p:sp>
      <p:sp>
        <p:nvSpPr>
          <p:cNvPr id="22" name="Text 20"/>
          <p:cNvSpPr/>
          <p:nvPr/>
        </p:nvSpPr>
        <p:spPr>
          <a:xfrm>
            <a:off x="6644640" y="2218944"/>
            <a:ext cx="5242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 feel confident using AI effectively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6644640" y="2682240"/>
            <a:ext cx="5242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 know how to write prompts that get results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6644640" y="3145536"/>
            <a:ext cx="5242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 can critically evaluate AI-generated output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6461760" y="4145280"/>
            <a:ext cx="560832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Shape 24"/>
          <p:cNvSpPr/>
          <p:nvPr/>
        </p:nvSpPr>
        <p:spPr>
          <a:xfrm>
            <a:off x="6461760" y="4145280"/>
            <a:ext cx="73152" cy="219456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6644640" y="426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733" dirty="0"/>
          </a:p>
        </p:txBody>
      </p:sp>
      <p:sp>
        <p:nvSpPr>
          <p:cNvPr id="28" name="Text 26"/>
          <p:cNvSpPr/>
          <p:nvPr/>
        </p:nvSpPr>
        <p:spPr>
          <a:xfrm>
            <a:off x="10351912" y="4200595"/>
            <a:ext cx="1773033" cy="207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/ Did it WORK?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6644640" y="4657344"/>
            <a:ext cx="5242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tools have meaningfully improved my productivity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6644640" y="5120640"/>
            <a:ext cx="5242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 can point to specific situations where AI helped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6644640" y="5583936"/>
            <a:ext cx="5242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 team has benefited from AI adoption</a:t>
            </a:r>
            <a:endParaRPr lang="en-US" sz="1467" dirty="0"/>
          </a:p>
        </p:txBody>
      </p:sp>
      <p:sp>
        <p:nvSpPr>
          <p:cNvPr id="32" name="Text 30"/>
          <p:cNvSpPr/>
          <p:nvPr/>
        </p:nvSpPr>
        <p:spPr>
          <a:xfrm>
            <a:off x="609600" y="6364223"/>
            <a:ext cx="10972800" cy="324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open-ended questions (for NMF) · 1 adoption stage item  ·  28 questions total  ·  ~8 min to complete</a:t>
            </a:r>
            <a:endParaRPr lang="en-US" sz="133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averages to…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600" y="13411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across Likert questions grouped/clustered. 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21280" cy="1767840"/>
          </a:xfrm>
          <a:prstGeom prst="rect">
            <a:avLst/>
          </a:prstGeom>
          <a:solidFill>
            <a:srgbClr val="122030"/>
          </a:solidFill>
          <a:ln w="635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2133600"/>
            <a:ext cx="26212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5867" dirty="0">
              <a:solidFill>
                <a:schemeClr val="accent6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194304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548640" y="3535680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seems okay</a:t>
            </a:r>
            <a:endParaRPr lang="en-US" sz="1267" dirty="0"/>
          </a:p>
        </p:txBody>
      </p:sp>
      <p:sp>
        <p:nvSpPr>
          <p:cNvPr id="8" name="Shape 6"/>
          <p:cNvSpPr/>
          <p:nvPr/>
        </p:nvSpPr>
        <p:spPr>
          <a:xfrm>
            <a:off x="3413760" y="2011680"/>
            <a:ext cx="2621280" cy="1767840"/>
          </a:xfrm>
          <a:prstGeom prst="rect">
            <a:avLst/>
          </a:prstGeom>
          <a:solidFill>
            <a:srgbClr val="122030"/>
          </a:solidFill>
          <a:ln w="635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3413760" y="2133600"/>
            <a:ext cx="26212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5867" dirty="0">
              <a:solidFill>
                <a:schemeClr val="accent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413760" y="3194304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3413760" y="3535680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— watch this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6278880" y="2011680"/>
            <a:ext cx="2621280" cy="1767840"/>
          </a:xfrm>
          <a:prstGeom prst="rect">
            <a:avLst/>
          </a:prstGeom>
          <a:solidFill>
            <a:srgbClr val="122030"/>
          </a:solidFill>
          <a:ln w="635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6278880" y="2133600"/>
            <a:ext cx="26212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5867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78880" y="3194304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Capability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6278880" y="3535680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midpoint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9144000" y="2011680"/>
            <a:ext cx="2621280" cy="1767840"/>
          </a:xfrm>
          <a:prstGeom prst="rect">
            <a:avLst/>
          </a:prstGeom>
          <a:solidFill>
            <a:srgbClr val="122030"/>
          </a:solidFill>
          <a:ln w="635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9144000" y="2133600"/>
            <a:ext cx="26212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5867" dirty="0">
              <a:solidFill>
                <a:srgbClr val="FF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0" y="3194304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9144000" y="3535680"/>
            <a:ext cx="262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concerning?</a:t>
            </a:r>
            <a:endParaRPr lang="en-US" sz="1267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643C9772-A196-1C7B-5705-FB793E7E2916}"/>
              </a:ext>
            </a:extLst>
          </p:cNvPr>
          <p:cNvSpPr/>
          <p:nvPr/>
        </p:nvSpPr>
        <p:spPr>
          <a:xfrm>
            <a:off x="5791200" y="4041370"/>
            <a:ext cx="762000" cy="914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B9004D-808A-8034-BA65-E3999A15D437}"/>
              </a:ext>
            </a:extLst>
          </p:cNvPr>
          <p:cNvSpPr txBox="1"/>
          <p:nvPr/>
        </p:nvSpPr>
        <p:spPr>
          <a:xfrm>
            <a:off x="2590800" y="4964083"/>
            <a:ext cx="826059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How many clusters (response patterns) are there?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What determines those clusters (which questions)?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Who are in those clusters?</a:t>
            </a:r>
          </a:p>
        </p:txBody>
      </p:sp>
    </p:spTree>
    <p:extLst>
      <p:ext uri="{BB962C8B-B14F-4D97-AF65-F5344CB8AC3E}">
        <p14:creationId xmlns:p14="http://schemas.microsoft.com/office/powerpoint/2010/main" val="3515848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Step 2: Component Pattern Analysis (CPA)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1402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Two algorithms working together to find who thinks alike</a:t>
            </a:r>
            <a:endParaRPr lang="en-US" sz="1733" dirty="0"/>
          </a:p>
        </p:txBody>
      </p:sp>
      <p:sp>
        <p:nvSpPr>
          <p:cNvPr id="4" name="Shape 2"/>
          <p:cNvSpPr/>
          <p:nvPr/>
        </p:nvSpPr>
        <p:spPr>
          <a:xfrm>
            <a:off x="548640" y="1767840"/>
            <a:ext cx="54254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8640" y="1767840"/>
            <a:ext cx="73152" cy="4389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55904" y="1889759"/>
            <a:ext cx="4998720" cy="207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 (PCA)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755904" y="2377440"/>
            <a:ext cx="499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829056" y="2706624"/>
            <a:ext cx="499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Takes 20 Likert items (20 dimensions)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9056" y="3279648"/>
            <a:ext cx="499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Compresses them into 2 dimensions that preserve the most variance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9056" y="3852672"/>
            <a:ext cx="499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Reveals the main axes of variation in how people answered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9056" y="4425696"/>
            <a:ext cx="499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Implemented here via numpy's SVD — no black box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5904" y="5120640"/>
            <a:ext cx="499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map of the response space</a:t>
            </a:r>
            <a:endParaRPr lang="en-US" sz="1533" dirty="0"/>
          </a:p>
        </p:txBody>
      </p:sp>
      <p:sp>
        <p:nvSpPr>
          <p:cNvPr id="13" name="Shape 11"/>
          <p:cNvSpPr/>
          <p:nvPr/>
        </p:nvSpPr>
        <p:spPr>
          <a:xfrm>
            <a:off x="6217920" y="1767840"/>
            <a:ext cx="54254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6217920" y="1767840"/>
            <a:ext cx="73152" cy="43891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6425184" y="1889759"/>
            <a:ext cx="4998720" cy="1219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867" dirty="0"/>
          </a:p>
        </p:txBody>
      </p:sp>
      <p:sp>
        <p:nvSpPr>
          <p:cNvPr id="16" name="Text 14"/>
          <p:cNvSpPr/>
          <p:nvPr/>
        </p:nvSpPr>
        <p:spPr>
          <a:xfrm>
            <a:off x="6425184" y="2377440"/>
            <a:ext cx="499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6498336" y="2706624"/>
            <a:ext cx="499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Groups respondents with similar answer patterns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8336" y="3279648"/>
            <a:ext cx="499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pre-defined categories — the data reveals the groups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8336" y="3852672"/>
            <a:ext cx="499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clusters selected to match expected behavioral diversity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25184" y="5120640"/>
            <a:ext cx="499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finding natural neighborhoods on the map</a:t>
            </a:r>
            <a:endParaRPr lang="en-US" sz="1533" dirty="0"/>
          </a:p>
        </p:txBody>
      </p:sp>
      <p:sp>
        <p:nvSpPr>
          <p:cNvPr id="22" name="Text 20"/>
          <p:cNvSpPr/>
          <p:nvPr/>
        </p:nvSpPr>
        <p:spPr>
          <a:xfrm>
            <a:off x="609600" y="6364224"/>
            <a:ext cx="10972800" cy="280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Together: PCA reduces noise; K-means finds the clusters. Neither algorithm needs to know about personas in advance.</a:t>
            </a:r>
            <a:endParaRPr lang="en-US" sz="1333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46147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Choosing k — Elbow Method + Silhouette Score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1041445"/>
            <a:ext cx="10972800" cy="3505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signals both point to k = 5 clusters</a:t>
            </a:r>
            <a:endParaRPr lang="en-US" sz="173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24000"/>
            <a:ext cx="109728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6156960"/>
            <a:ext cx="10972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3"/>
          <p:cNvSpPr/>
          <p:nvPr/>
        </p:nvSpPr>
        <p:spPr>
          <a:xfrm>
            <a:off x="792480" y="6181344"/>
            <a:ext cx="10607040" cy="405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Elbow: inertia drops sharply from k=2→5, then flattens — diminishing returns beyond 5.  Silhouette: peaks at k=2 (natural split) but k=5 retains meaningful structure.  Domain knowledge (5 behavioral profiles expected) confirms the selection.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3081"/>
            <a:ext cx="10972800" cy="43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Pattern Analysis: What the Algorithm Found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1402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distinct response clusters emerge naturally from the data</a:t>
            </a:r>
            <a:endParaRPr lang="en-US" sz="1733" dirty="0"/>
          </a:p>
        </p:txBody>
      </p:sp>
      <p:sp>
        <p:nvSpPr>
          <p:cNvPr id="5" name="Text 2"/>
          <p:cNvSpPr/>
          <p:nvPr/>
        </p:nvSpPr>
        <p:spPr>
          <a:xfrm>
            <a:off x="609600" y="6315456"/>
            <a:ext cx="10972800" cy="322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Left: ground truth personas (simulated data only)  ·  Right: what you'd see with real survey data — clusters emerge without labels</a:t>
            </a:r>
            <a:endParaRPr lang="en-US" sz="1333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4546C2-9730-F18A-FCCE-4A22213948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1310263"/>
            <a:ext cx="12191999" cy="49148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Clusters?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1105747"/>
            <a:ext cx="10972800" cy="4182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PCA component loadings reveal which survey items separate people most in the component. </a:t>
            </a:r>
            <a:endParaRPr lang="en-US" sz="1733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8815" y="1584960"/>
            <a:ext cx="10694371" cy="4511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6217920"/>
            <a:ext cx="10972800" cy="43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Items with large loadings are the 'forks in the road' — the questions where people's answers diverge most. These are often more actionable than items everyone agrees on.</a:t>
            </a:r>
            <a:endParaRPr lang="en-US" sz="1467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Might Be These Components Represent?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9918" y="1023619"/>
            <a:ext cx="10972800" cy="4182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PCA does not name or describe the clusters. It’s a human job.</a:t>
            </a:r>
            <a:endParaRPr lang="en-US" sz="1733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8815" y="1584960"/>
            <a:ext cx="10694371" cy="45110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04CE748-5501-552D-4E1B-FFF00DBA99C8}"/>
              </a:ext>
            </a:extLst>
          </p:cNvPr>
          <p:cNvSpPr/>
          <p:nvPr/>
        </p:nvSpPr>
        <p:spPr>
          <a:xfrm>
            <a:off x="6180667" y="2251281"/>
            <a:ext cx="5672667" cy="848360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F0EC06-7A7B-5853-DF6B-EC2C7A1FCADE}"/>
              </a:ext>
            </a:extLst>
          </p:cNvPr>
          <p:cNvSpPr txBox="1"/>
          <p:nvPr/>
        </p:nvSpPr>
        <p:spPr>
          <a:xfrm>
            <a:off x="8786582" y="1383153"/>
            <a:ext cx="3292889" cy="913007"/>
          </a:xfrm>
          <a:prstGeom prst="rect">
            <a:avLst/>
          </a:prstGeom>
          <a:solidFill>
            <a:schemeClr val="tx1">
              <a:lumMod val="95000"/>
            </a:schemeClr>
          </a:solidFill>
          <a:ln w="76200">
            <a:solidFill>
              <a:srgbClr val="FFC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EXTERNAL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AFAAD0-1067-12E8-BD38-0779DFA62B9B}"/>
              </a:ext>
            </a:extLst>
          </p:cNvPr>
          <p:cNvSpPr/>
          <p:nvPr/>
        </p:nvSpPr>
        <p:spPr>
          <a:xfrm>
            <a:off x="6096000" y="4808219"/>
            <a:ext cx="5596467" cy="848360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C9A29A-2B8C-2FA7-AA6F-63EEE180D54A}"/>
              </a:ext>
            </a:extLst>
          </p:cNvPr>
          <p:cNvSpPr txBox="1"/>
          <p:nvPr/>
        </p:nvSpPr>
        <p:spPr>
          <a:xfrm>
            <a:off x="8885920" y="4071045"/>
            <a:ext cx="3175869" cy="913007"/>
          </a:xfrm>
          <a:prstGeom prst="rect">
            <a:avLst/>
          </a:prstGeom>
          <a:solidFill>
            <a:schemeClr val="tx1">
              <a:lumMod val="95000"/>
            </a:schemeClr>
          </a:solidFill>
          <a:ln w="76200">
            <a:solidFill>
              <a:srgbClr val="FFC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INTERNAL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8A515C-65B6-ED6A-E398-E10264983CB1}"/>
              </a:ext>
            </a:extLst>
          </p:cNvPr>
          <p:cNvSpPr/>
          <p:nvPr/>
        </p:nvSpPr>
        <p:spPr>
          <a:xfrm>
            <a:off x="338667" y="2177294"/>
            <a:ext cx="5596467" cy="2098373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A2F2E4-668C-7325-1149-649EF02E544C}"/>
              </a:ext>
            </a:extLst>
          </p:cNvPr>
          <p:cNvSpPr txBox="1"/>
          <p:nvPr/>
        </p:nvSpPr>
        <p:spPr>
          <a:xfrm>
            <a:off x="431419" y="1338274"/>
            <a:ext cx="5499967" cy="913007"/>
          </a:xfrm>
          <a:prstGeom prst="rect">
            <a:avLst/>
          </a:prstGeom>
          <a:solidFill>
            <a:schemeClr val="tx1">
              <a:lumMod val="95000"/>
            </a:schemeClr>
          </a:solidFill>
          <a:ln w="7620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5333" b="1" dirty="0">
                <a:solidFill>
                  <a:schemeClr val="bg1"/>
                </a:solidFill>
              </a:rPr>
              <a:t>VALUE &amp; RESULTS</a:t>
            </a:r>
          </a:p>
        </p:txBody>
      </p:sp>
      <p:sp>
        <p:nvSpPr>
          <p:cNvPr id="12" name="Text 2"/>
          <p:cNvSpPr/>
          <p:nvPr/>
        </p:nvSpPr>
        <p:spPr>
          <a:xfrm>
            <a:off x="609600" y="6217920"/>
            <a:ext cx="10972800" cy="43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Outcome Focus (value/results) vs. Motivation (extrinsic to intrinsic)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956756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FC18F-BACF-834C-7C6C-C3A520D41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Qualitative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0B678-6C68-A8D0-DC3E-6308E26CB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we analyze open-text comments?</a:t>
            </a:r>
          </a:p>
        </p:txBody>
      </p:sp>
    </p:spTree>
    <p:extLst>
      <p:ext uri="{BB962C8B-B14F-4D97-AF65-F5344CB8AC3E}">
        <p14:creationId xmlns:p14="http://schemas.microsoft.com/office/powerpoint/2010/main" val="16545755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48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What Are They Actually Saying?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1077302"/>
            <a:ext cx="10972800" cy="304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Non-Negative Matrix Factorization (NMF) — topic modeling for open-ended text</a:t>
            </a:r>
            <a:endParaRPr lang="en-US" sz="1867" dirty="0"/>
          </a:p>
        </p:txBody>
      </p:sp>
      <p:sp>
        <p:nvSpPr>
          <p:cNvPr id="4" name="Shape 2"/>
          <p:cNvSpPr/>
          <p:nvPr/>
        </p:nvSpPr>
        <p:spPr>
          <a:xfrm>
            <a:off x="609600" y="2011680"/>
            <a:ext cx="2560320" cy="1706880"/>
          </a:xfrm>
          <a:prstGeom prst="rect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09600" y="2097024"/>
            <a:ext cx="25603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</a:t>
            </a:r>
            <a:endParaRPr lang="en-US" sz="1867" dirty="0"/>
          </a:p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609600" y="2926080"/>
            <a:ext cx="25603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text questions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respondents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3072384" y="2438400"/>
            <a:ext cx="426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933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2560320" cy="170688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3474720" y="2097024"/>
            <a:ext cx="25603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867" dirty="0"/>
          </a:p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3474720" y="2926080"/>
            <a:ext cx="25603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× documents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weights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5937504" y="2438400"/>
            <a:ext cx="426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933" dirty="0"/>
          </a:p>
        </p:txBody>
      </p:sp>
      <p:sp>
        <p:nvSpPr>
          <p:cNvPr id="12" name="Shape 10"/>
          <p:cNvSpPr/>
          <p:nvPr/>
        </p:nvSpPr>
        <p:spPr>
          <a:xfrm>
            <a:off x="6339840" y="2011680"/>
            <a:ext cx="2560320" cy="1706880"/>
          </a:xfrm>
          <a:prstGeom prst="rect">
            <a:avLst/>
          </a:prstGeom>
          <a:solidFill>
            <a:srgbClr val="F96167">
              <a:alpha val="25000"/>
            </a:srgbClr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6339840" y="2097024"/>
            <a:ext cx="25603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NMF</a:t>
            </a:r>
            <a:endParaRPr lang="en-US" sz="1867" dirty="0"/>
          </a:p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Factorization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6339840" y="2926080"/>
            <a:ext cx="25603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≈ W × H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Non-negative parts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8802624" y="2438400"/>
            <a:ext cx="426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933" dirty="0"/>
          </a:p>
        </p:txBody>
      </p:sp>
      <p:sp>
        <p:nvSpPr>
          <p:cNvPr id="16" name="Shape 14"/>
          <p:cNvSpPr/>
          <p:nvPr/>
        </p:nvSpPr>
        <p:spPr>
          <a:xfrm>
            <a:off x="9204960" y="2011680"/>
            <a:ext cx="2560320" cy="1706880"/>
          </a:xfrm>
          <a:prstGeom prst="rect">
            <a:avLst/>
          </a:prstGeom>
          <a:solidFill>
            <a:srgbClr val="F9A03F">
              <a:alpha val="25000"/>
            </a:srgbClr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9204960" y="2097024"/>
            <a:ext cx="25603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867" dirty="0"/>
          </a:p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9204960" y="2926080"/>
            <a:ext cx="25603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respondent gets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dominant topic</a:t>
            </a:r>
            <a:endParaRPr lang="en-US" sz="1333" dirty="0"/>
          </a:p>
        </p:txBody>
      </p:sp>
      <p:sp>
        <p:nvSpPr>
          <p:cNvPr id="19" name="Text 17"/>
          <p:cNvSpPr/>
          <p:nvPr/>
        </p:nvSpPr>
        <p:spPr>
          <a:xfrm>
            <a:off x="609600" y="40233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NMF (not just a word cloud)?</a:t>
            </a:r>
            <a:endParaRPr lang="en-US" sz="2133" dirty="0"/>
          </a:p>
        </p:txBody>
      </p:sp>
      <p:sp>
        <p:nvSpPr>
          <p:cNvPr id="20" name="Shape 18"/>
          <p:cNvSpPr/>
          <p:nvPr/>
        </p:nvSpPr>
        <p:spPr>
          <a:xfrm>
            <a:off x="609600" y="4535424"/>
            <a:ext cx="73152" cy="426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877824" y="4729141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Topics are interpretable: every word adds positively — no canceling out</a:t>
            </a:r>
            <a:endParaRPr lang="en-US" sz="1733" dirty="0"/>
          </a:p>
        </p:txBody>
      </p:sp>
      <p:sp>
        <p:nvSpPr>
          <p:cNvPr id="22" name="Shape 20"/>
          <p:cNvSpPr/>
          <p:nvPr/>
        </p:nvSpPr>
        <p:spPr>
          <a:xfrm>
            <a:off x="609600" y="5108448"/>
            <a:ext cx="73152" cy="426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877824" y="5302165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gets a dominant topic weight — not just a frequency count</a:t>
            </a:r>
            <a:endParaRPr lang="en-US" sz="1733" dirty="0"/>
          </a:p>
        </p:txBody>
      </p:sp>
      <p:sp>
        <p:nvSpPr>
          <p:cNvPr id="24" name="Shape 22"/>
          <p:cNvSpPr/>
          <p:nvPr/>
        </p:nvSpPr>
        <p:spPr>
          <a:xfrm>
            <a:off x="609600" y="5681472"/>
            <a:ext cx="73152" cy="426720"/>
          </a:xfrm>
          <a:prstGeom prst="rect">
            <a:avLst/>
          </a:prstGeom>
          <a:solidFill>
            <a:srgbClr val="F9A03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877824" y="5875189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Connects directly to MOJO: we can see which clusters have which theme</a:t>
            </a:r>
            <a:endParaRPr lang="en-US" sz="173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Number of Topics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1038691"/>
            <a:ext cx="10972800" cy="248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error and coherence both suggest 5 topics is optimal</a:t>
            </a:r>
            <a:endParaRPr lang="en-US" sz="173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24000"/>
            <a:ext cx="109728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6156960"/>
            <a:ext cx="10972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3"/>
          <p:cNvSpPr/>
          <p:nvPr/>
        </p:nvSpPr>
        <p:spPr>
          <a:xfrm>
            <a:off x="792480" y="6181344"/>
            <a:ext cx="10607040" cy="431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error (Frobenius norm): measures how well NMF approximates the TF-IDF matrix — lower is better.  Coherence (UMass): measures how often top words co-occur in the corpus — higher is more interpretable.  n=5 balances both: error plateaus, coherence peaks.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NMF: 5 Themes from Open-Ended Text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955042"/>
            <a:ext cx="10972800" cy="4859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Naming and describing themes using AI.</a:t>
            </a:r>
            <a:endParaRPr lang="en-US" sz="1733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249935BA-7635-A9E9-866F-025094EB78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4812"/>
          <a:stretch/>
        </p:blipFill>
        <p:spPr>
          <a:xfrm>
            <a:off x="-788950" y="1810173"/>
            <a:ext cx="12826857" cy="1271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F1FBFC-E838-1102-AE5E-66F795C766CE}"/>
              </a:ext>
            </a:extLst>
          </p:cNvPr>
          <p:cNvSpPr txBox="1"/>
          <p:nvPr/>
        </p:nvSpPr>
        <p:spPr>
          <a:xfrm>
            <a:off x="863601" y="3716867"/>
            <a:ext cx="9956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AI’s role: shifted from </a:t>
            </a:r>
            <a:r>
              <a:rPr lang="en-US" sz="2400" dirty="0">
                <a:solidFill>
                  <a:srgbClr val="92D050"/>
                </a:solidFill>
              </a:rPr>
              <a:t>pattern recognition </a:t>
            </a:r>
            <a:r>
              <a:rPr lang="en-US" sz="2400" dirty="0"/>
              <a:t>(open and unpredictable) to </a:t>
            </a:r>
            <a:r>
              <a:rPr lang="en-US" sz="2400" dirty="0">
                <a:solidFill>
                  <a:srgbClr val="92D050"/>
                </a:solidFill>
              </a:rPr>
              <a:t>pattern description </a:t>
            </a:r>
            <a:r>
              <a:rPr lang="en-US" sz="2400" dirty="0"/>
              <a:t>(deterministic). </a:t>
            </a:r>
          </a:p>
          <a:p>
            <a:endParaRPr lang="en-US" sz="2400" dirty="0"/>
          </a:p>
          <a:p>
            <a:r>
              <a:rPr lang="en-US" sz="2400" dirty="0"/>
              <a:t>Naming and describing the themes is an AI + Human job.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NMF: 5 Themes from Open-Ended Text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955042"/>
            <a:ext cx="10972800" cy="4859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identified these themes without being told what to look for</a:t>
            </a:r>
            <a:endParaRPr lang="en-US" sz="173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0"/>
            <a:ext cx="11460480" cy="4511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62179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chart shows the top 8 words driving that topic · Interpretations come from reading these patterns — not from pre-labeling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38455469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48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Both Methods Agree?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880533"/>
            <a:ext cx="10972800" cy="402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Rand Index (ARI) measures convergent validity across the two analytical lenses</a:t>
            </a:r>
            <a:endParaRPr lang="en-US" sz="1867" dirty="0">
              <a:solidFill>
                <a:srgbClr val="00B050"/>
              </a:solidFill>
            </a:endParaRPr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774627"/>
            <a:ext cx="11460480" cy="392511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6242304"/>
            <a:ext cx="3596640" cy="512064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3"/>
          <p:cNvSpPr/>
          <p:nvPr/>
        </p:nvSpPr>
        <p:spPr>
          <a:xfrm>
            <a:off x="609600" y="6242304"/>
            <a:ext cx="359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ARI: 0.914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450080" y="6242304"/>
            <a:ext cx="3596640" cy="512064"/>
          </a:xfrm>
          <a:prstGeom prst="rect">
            <a:avLst/>
          </a:prstGeom>
          <a:solidFill>
            <a:srgbClr val="F96167">
              <a:alpha val="20000"/>
            </a:srgbClr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5"/>
          <p:cNvSpPr/>
          <p:nvPr/>
        </p:nvSpPr>
        <p:spPr>
          <a:xfrm>
            <a:off x="4450080" y="6242304"/>
            <a:ext cx="359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NMF ARI: 0.510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90560" y="6242304"/>
            <a:ext cx="3596640" cy="512064"/>
          </a:xfrm>
          <a:prstGeom prst="rect">
            <a:avLst/>
          </a:prstGeom>
          <a:solidFill>
            <a:srgbClr val="F9A03F">
              <a:alpha val="20000"/>
            </a:srgbClr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7"/>
          <p:cNvSpPr/>
          <p:nvPr/>
        </p:nvSpPr>
        <p:spPr>
          <a:xfrm>
            <a:off x="8290560" y="6242304"/>
            <a:ext cx="359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Agreement: 0.48+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2"/>
            <a:ext cx="10972800" cy="487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Patterns vs. MOJO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1044787"/>
            <a:ext cx="10972800" cy="4182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One heatmap replaces 20 bar charts — and tells a clearer story</a:t>
            </a:r>
            <a:endParaRPr lang="en-US" sz="173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63040"/>
            <a:ext cx="10972800" cy="426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913120"/>
            <a:ext cx="11094720" cy="73152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3"/>
          <p:cNvSpPr/>
          <p:nvPr/>
        </p:nvSpPr>
        <p:spPr>
          <a:xfrm>
            <a:off x="792480" y="5949696"/>
            <a:ext cx="10607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'Willing but Blocked' scores 3.8 on Motivation but 2.1 on Opportunity. More training won't move them. Removing barriers will.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MOJO Profiles at a Glance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988908"/>
            <a:ext cx="10972800" cy="3674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charts show the behavioral 'fingerprint' of each cluster</a:t>
            </a:r>
            <a:endParaRPr lang="en-US" sz="173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0"/>
            <a:ext cx="11460480" cy="426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5974080"/>
            <a:ext cx="3657600" cy="67056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3"/>
          <p:cNvSpPr/>
          <p:nvPr/>
        </p:nvSpPr>
        <p:spPr>
          <a:xfrm>
            <a:off x="463296" y="5974080"/>
            <a:ext cx="34747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Eager Adopter: Full radar — constrained only by Opportunity</a:t>
            </a:r>
            <a:endParaRPr lang="en-US" sz="1267" dirty="0"/>
          </a:p>
        </p:txBody>
      </p:sp>
      <p:sp>
        <p:nvSpPr>
          <p:cNvPr id="7" name="Shape 4"/>
          <p:cNvSpPr/>
          <p:nvPr/>
        </p:nvSpPr>
        <p:spPr>
          <a:xfrm>
            <a:off x="4267200" y="5974080"/>
            <a:ext cx="3657600" cy="670560"/>
          </a:xfrm>
          <a:prstGeom prst="rect">
            <a:avLst/>
          </a:prstGeom>
          <a:solidFill>
            <a:srgbClr val="F96167">
              <a:alpha val="10000"/>
            </a:srgbClr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5"/>
          <p:cNvSpPr/>
          <p:nvPr/>
        </p:nvSpPr>
        <p:spPr>
          <a:xfrm>
            <a:off x="4364736" y="5974080"/>
            <a:ext cx="34747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Willing but Blocked: High M, collapsed O — structural fix needed</a:t>
            </a:r>
            <a:endParaRPr lang="en-US" sz="1267" dirty="0"/>
          </a:p>
        </p:txBody>
      </p:sp>
      <p:sp>
        <p:nvSpPr>
          <p:cNvPr id="9" name="Shape 6"/>
          <p:cNvSpPr/>
          <p:nvPr/>
        </p:nvSpPr>
        <p:spPr>
          <a:xfrm>
            <a:off x="8168640" y="5974080"/>
            <a:ext cx="3657600" cy="670560"/>
          </a:xfrm>
          <a:prstGeom prst="rect">
            <a:avLst/>
          </a:prstGeom>
          <a:solidFill>
            <a:srgbClr val="636E72">
              <a:alpha val="10000"/>
            </a:srgbClr>
          </a:solidFill>
          <a:ln w="12700">
            <a:solidFill>
              <a:srgbClr val="636E7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7"/>
          <p:cNvSpPr/>
          <p:nvPr/>
        </p:nvSpPr>
        <p:spPr>
          <a:xfrm>
            <a:off x="8266176" y="5974080"/>
            <a:ext cx="34747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Mandated but Disengaged: Flat on M — motivation is the only lever</a:t>
            </a:r>
            <a:endParaRPr lang="en-US" sz="1267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now? Action Priority Matrix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1024130"/>
            <a:ext cx="10972800" cy="341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resources go first? MOJO gives us the answer</a:t>
            </a:r>
            <a:endParaRPr lang="en-US" sz="173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0"/>
            <a:ext cx="6583680" cy="4815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584960"/>
            <a:ext cx="4511040" cy="1121664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Shape 3"/>
          <p:cNvSpPr/>
          <p:nvPr/>
        </p:nvSpPr>
        <p:spPr>
          <a:xfrm>
            <a:off x="7315200" y="1584960"/>
            <a:ext cx="73152" cy="1121664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4"/>
          <p:cNvSpPr/>
          <p:nvPr/>
        </p:nvSpPr>
        <p:spPr>
          <a:xfrm>
            <a:off x="7534656" y="1792224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 + Low 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34656" y="2121408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Remove Barriers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34656" y="2438400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but Blocked — structural fix. Policy, tools, time.</a:t>
            </a:r>
            <a:endParaRPr lang="en-US" sz="1333" dirty="0"/>
          </a:p>
        </p:txBody>
      </p:sp>
      <p:sp>
        <p:nvSpPr>
          <p:cNvPr id="10" name="Shape 7"/>
          <p:cNvSpPr/>
          <p:nvPr/>
        </p:nvSpPr>
        <p:spPr>
          <a:xfrm>
            <a:off x="7315200" y="2852928"/>
            <a:ext cx="4511040" cy="1121664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8"/>
          <p:cNvSpPr/>
          <p:nvPr/>
        </p:nvSpPr>
        <p:spPr>
          <a:xfrm>
            <a:off x="7315200" y="2852928"/>
            <a:ext cx="73152" cy="11216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9"/>
          <p:cNvSpPr/>
          <p:nvPr/>
        </p:nvSpPr>
        <p:spPr>
          <a:xfrm>
            <a:off x="7534656" y="3011424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 + High 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34656" y="3340608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Sustain &amp; Scale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34656" y="3657600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Adopters — give them advanced pathways and community.</a:t>
            </a:r>
            <a:endParaRPr lang="en-US" sz="1333" dirty="0"/>
          </a:p>
        </p:txBody>
      </p:sp>
      <p:sp>
        <p:nvSpPr>
          <p:cNvPr id="15" name="Shape 12"/>
          <p:cNvSpPr/>
          <p:nvPr/>
        </p:nvSpPr>
        <p:spPr>
          <a:xfrm>
            <a:off x="7315200" y="4120896"/>
            <a:ext cx="4511040" cy="1121664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Shape 13"/>
          <p:cNvSpPr/>
          <p:nvPr/>
        </p:nvSpPr>
        <p:spPr>
          <a:xfrm>
            <a:off x="7315200" y="4120896"/>
            <a:ext cx="73152" cy="1121664"/>
          </a:xfrm>
          <a:prstGeom prst="rect">
            <a:avLst/>
          </a:prstGeom>
          <a:solidFill>
            <a:srgbClr val="636E7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4"/>
          <p:cNvSpPr/>
          <p:nvPr/>
        </p:nvSpPr>
        <p:spPr>
          <a:xfrm>
            <a:off x="7534656" y="4306824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 + Low 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534656" y="4636008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Rebuild the Case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315200" y="5388864"/>
            <a:ext cx="4511040" cy="1121664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Shape 18"/>
          <p:cNvSpPr/>
          <p:nvPr/>
        </p:nvSpPr>
        <p:spPr>
          <a:xfrm>
            <a:off x="7315200" y="5388864"/>
            <a:ext cx="73152" cy="1121664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19"/>
          <p:cNvSpPr/>
          <p:nvPr/>
        </p:nvSpPr>
        <p:spPr>
          <a:xfrm>
            <a:off x="7534656" y="5526024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 + High 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534656" y="5855208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Deepen Meaning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534656" y="4782313"/>
            <a:ext cx="4145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Skeptical Observers — show evidence. Build trust, not access.</a:t>
            </a:r>
            <a:endParaRPr lang="en-US" sz="1333" dirty="0"/>
          </a:p>
        </p:txBody>
      </p:sp>
      <p:sp>
        <p:nvSpPr>
          <p:cNvPr id="25" name="Text 22"/>
          <p:cNvSpPr/>
          <p:nvPr/>
        </p:nvSpPr>
        <p:spPr>
          <a:xfrm>
            <a:off x="365760" y="6461759"/>
            <a:ext cx="10972800" cy="316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size = capability gap. Larger bubbles need training investment alongside structural/motivational change.</a:t>
            </a:r>
            <a:endParaRPr lang="en-US" sz="1267" dirty="0">
              <a:solidFill>
                <a:srgbClr val="00B050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7534656" y="6011488"/>
            <a:ext cx="4145280" cy="3200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Mandated but Disengaged — invite, don't mandate. Meaning first.</a:t>
            </a:r>
            <a:endParaRPr lang="en-US" sz="1333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now? Action Priority Matrix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1024130"/>
            <a:ext cx="10972800" cy="341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resources go first? MOJO gives us the answer</a:t>
            </a:r>
            <a:endParaRPr lang="en-US" sz="173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0"/>
            <a:ext cx="6583680" cy="4815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584960"/>
            <a:ext cx="4511040" cy="1121664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Shape 3"/>
          <p:cNvSpPr/>
          <p:nvPr/>
        </p:nvSpPr>
        <p:spPr>
          <a:xfrm>
            <a:off x="7315200" y="1584960"/>
            <a:ext cx="73152" cy="1121664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4"/>
          <p:cNvSpPr/>
          <p:nvPr/>
        </p:nvSpPr>
        <p:spPr>
          <a:xfrm>
            <a:off x="7534656" y="1792224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 + Low 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34656" y="2121408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Remove Barriers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34656" y="2438400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but Blocked — structural fix. Policy, tools, time.</a:t>
            </a:r>
            <a:endParaRPr lang="en-US" sz="1333" dirty="0"/>
          </a:p>
        </p:txBody>
      </p:sp>
      <p:sp>
        <p:nvSpPr>
          <p:cNvPr id="10" name="Shape 7"/>
          <p:cNvSpPr/>
          <p:nvPr/>
        </p:nvSpPr>
        <p:spPr>
          <a:xfrm>
            <a:off x="7315200" y="2852928"/>
            <a:ext cx="4511040" cy="1121664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8"/>
          <p:cNvSpPr/>
          <p:nvPr/>
        </p:nvSpPr>
        <p:spPr>
          <a:xfrm>
            <a:off x="7315200" y="2852928"/>
            <a:ext cx="73152" cy="11216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9"/>
          <p:cNvSpPr/>
          <p:nvPr/>
        </p:nvSpPr>
        <p:spPr>
          <a:xfrm>
            <a:off x="7534656" y="3011424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 + High 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34656" y="3340608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Sustain &amp; Scale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34656" y="3657600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Adopters — give them advanced pathways and community.</a:t>
            </a:r>
            <a:endParaRPr lang="en-US" sz="1333" dirty="0"/>
          </a:p>
        </p:txBody>
      </p:sp>
      <p:sp>
        <p:nvSpPr>
          <p:cNvPr id="15" name="Shape 12"/>
          <p:cNvSpPr/>
          <p:nvPr/>
        </p:nvSpPr>
        <p:spPr>
          <a:xfrm>
            <a:off x="7315200" y="4120896"/>
            <a:ext cx="4511040" cy="1121664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Shape 13"/>
          <p:cNvSpPr/>
          <p:nvPr/>
        </p:nvSpPr>
        <p:spPr>
          <a:xfrm>
            <a:off x="7315200" y="4120896"/>
            <a:ext cx="73152" cy="1121664"/>
          </a:xfrm>
          <a:prstGeom prst="rect">
            <a:avLst/>
          </a:prstGeom>
          <a:solidFill>
            <a:srgbClr val="636E7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4"/>
          <p:cNvSpPr/>
          <p:nvPr/>
        </p:nvSpPr>
        <p:spPr>
          <a:xfrm>
            <a:off x="7534656" y="4306824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 + Low 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534656" y="4636008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Rebuild the Case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315200" y="5388864"/>
            <a:ext cx="4511040" cy="1121664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Shape 18"/>
          <p:cNvSpPr/>
          <p:nvPr/>
        </p:nvSpPr>
        <p:spPr>
          <a:xfrm>
            <a:off x="7315200" y="5388864"/>
            <a:ext cx="73152" cy="1121664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19"/>
          <p:cNvSpPr/>
          <p:nvPr/>
        </p:nvSpPr>
        <p:spPr>
          <a:xfrm>
            <a:off x="7534656" y="5526024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 + High 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534656" y="5855208"/>
            <a:ext cx="4145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Deepen Meaning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534656" y="4782313"/>
            <a:ext cx="4145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Skeptical Observers — show evidence. Build trust, not access.</a:t>
            </a:r>
            <a:endParaRPr lang="en-US" sz="1333" dirty="0"/>
          </a:p>
        </p:txBody>
      </p:sp>
      <p:sp>
        <p:nvSpPr>
          <p:cNvPr id="25" name="Text 22"/>
          <p:cNvSpPr/>
          <p:nvPr/>
        </p:nvSpPr>
        <p:spPr>
          <a:xfrm>
            <a:off x="365760" y="6461759"/>
            <a:ext cx="10972800" cy="316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size = capability gap. Larger bubbles need training investment alongside structural/motivational change.</a:t>
            </a:r>
            <a:endParaRPr lang="en-US" sz="1267" dirty="0">
              <a:solidFill>
                <a:srgbClr val="00B050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7534656" y="6011488"/>
            <a:ext cx="4145280" cy="3200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Mandated but Disengaged — invite, don't mandate. Meaning first.</a:t>
            </a:r>
            <a:endParaRPr lang="en-US" sz="1333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B2B9CAD-2E64-245F-7D9B-3FDEB5358DBF}"/>
              </a:ext>
            </a:extLst>
          </p:cNvPr>
          <p:cNvCxnSpPr>
            <a:cxnSpLocks/>
          </p:cNvCxnSpPr>
          <p:nvPr/>
        </p:nvCxnSpPr>
        <p:spPr>
          <a:xfrm flipV="1">
            <a:off x="2476500" y="2819332"/>
            <a:ext cx="495300" cy="20251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DCFF10-C240-A3E4-B297-93B49D6A56BE}"/>
              </a:ext>
            </a:extLst>
          </p:cNvPr>
          <p:cNvCxnSpPr>
            <a:cxnSpLocks/>
          </p:cNvCxnSpPr>
          <p:nvPr/>
        </p:nvCxnSpPr>
        <p:spPr>
          <a:xfrm flipV="1">
            <a:off x="3733800" y="3218688"/>
            <a:ext cx="381000" cy="21031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2D104DF-26DE-D092-595A-1FAFB199826B}"/>
              </a:ext>
            </a:extLst>
          </p:cNvPr>
          <p:cNvCxnSpPr>
            <a:cxnSpLocks/>
          </p:cNvCxnSpPr>
          <p:nvPr/>
        </p:nvCxnSpPr>
        <p:spPr>
          <a:xfrm flipV="1">
            <a:off x="3886200" y="4349842"/>
            <a:ext cx="152400" cy="2861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FA03D74-14E6-EFCE-AE11-F8C69B5E1756}"/>
              </a:ext>
            </a:extLst>
          </p:cNvPr>
          <p:cNvCxnSpPr>
            <a:cxnSpLocks/>
          </p:cNvCxnSpPr>
          <p:nvPr/>
        </p:nvCxnSpPr>
        <p:spPr>
          <a:xfrm flipV="1">
            <a:off x="4328021" y="4807042"/>
            <a:ext cx="167779" cy="3215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70158E5-93FB-01B6-3E35-9780C1E17C52}"/>
              </a:ext>
            </a:extLst>
          </p:cNvPr>
          <p:cNvCxnSpPr>
            <a:cxnSpLocks/>
          </p:cNvCxnSpPr>
          <p:nvPr/>
        </p:nvCxnSpPr>
        <p:spPr>
          <a:xfrm flipV="1">
            <a:off x="4876801" y="2438400"/>
            <a:ext cx="228599" cy="1447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0666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FC18F-BACF-834C-7C6C-C3A520D41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Word on 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0B678-6C68-A8D0-DC3E-6308E26CB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as simple as it seems…</a:t>
            </a:r>
          </a:p>
        </p:txBody>
      </p:sp>
    </p:spTree>
    <p:extLst>
      <p:ext uri="{BB962C8B-B14F-4D97-AF65-F5344CB8AC3E}">
        <p14:creationId xmlns:p14="http://schemas.microsoft.com/office/powerpoint/2010/main" val="11939075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275AB7-1BD9-C4AE-C58D-1DD8346AD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Self-Determination Theory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92A0D0C-1019-C80B-DDD4-D8F947C776AE}"/>
              </a:ext>
            </a:extLst>
          </p:cNvPr>
          <p:cNvSpPr/>
          <p:nvPr/>
        </p:nvSpPr>
        <p:spPr>
          <a:xfrm>
            <a:off x="1519844" y="2034034"/>
            <a:ext cx="36617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 Spectrum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EEA91F9-3C3C-9C8F-0B6E-C9E2078AFFD9}"/>
              </a:ext>
            </a:extLst>
          </p:cNvPr>
          <p:cNvSpPr/>
          <p:nvPr/>
        </p:nvSpPr>
        <p:spPr>
          <a:xfrm>
            <a:off x="1861774" y="2645664"/>
            <a:ext cx="6901226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External 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Complying to avoid consequences</a:t>
            </a:r>
            <a:endParaRPr lang="en-US" sz="24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720351A-81B3-5263-CCDE-148FA4127B94}"/>
              </a:ext>
            </a:extLst>
          </p:cNvPr>
          <p:cNvSpPr/>
          <p:nvPr/>
        </p:nvSpPr>
        <p:spPr>
          <a:xfrm>
            <a:off x="1861774" y="3438144"/>
            <a:ext cx="6901226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Introjected 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Acting to avoid guilt/shame</a:t>
            </a:r>
            <a:endParaRPr lang="en-US" sz="24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10609AC3-87A9-B6DC-DC1C-2F0665D14DA4}"/>
              </a:ext>
            </a:extLst>
          </p:cNvPr>
          <p:cNvSpPr/>
          <p:nvPr/>
        </p:nvSpPr>
        <p:spPr>
          <a:xfrm>
            <a:off x="1861774" y="4230624"/>
            <a:ext cx="6901226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Sees personal value in doing it</a:t>
            </a:r>
            <a:endParaRPr lang="en-US" sz="24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03D51946-6EBA-6CFA-5DEC-320023B21B57}"/>
              </a:ext>
            </a:extLst>
          </p:cNvPr>
          <p:cNvSpPr/>
          <p:nvPr/>
        </p:nvSpPr>
        <p:spPr>
          <a:xfrm>
            <a:off x="1861774" y="5023104"/>
            <a:ext cx="7587026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Adopting it as part of professional identity</a:t>
            </a:r>
            <a:endParaRPr lang="en-US" sz="2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BD5BEBDD-EEB4-B175-3023-AA1BD85CC748}"/>
              </a:ext>
            </a:extLst>
          </p:cNvPr>
          <p:cNvSpPr/>
          <p:nvPr/>
        </p:nvSpPr>
        <p:spPr>
          <a:xfrm>
            <a:off x="1861774" y="5815584"/>
            <a:ext cx="6901226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Intrinsic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Genuinely enjoying the activity</a:t>
            </a:r>
            <a:endParaRPr lang="en-US" sz="2400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B7188856-69DB-84F4-C8FE-2AD91C11F815}"/>
              </a:ext>
            </a:extLst>
          </p:cNvPr>
          <p:cNvSpPr/>
          <p:nvPr/>
        </p:nvSpPr>
        <p:spPr>
          <a:xfrm>
            <a:off x="1519844" y="2624696"/>
            <a:ext cx="427274" cy="38790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210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Motivation Type Matters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1053593"/>
            <a:ext cx="10972800" cy="341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Self-Determination Theory: not all motivation is equal</a:t>
            </a:r>
            <a:endParaRPr lang="en-US" sz="173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463040"/>
            <a:ext cx="7924800" cy="4693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56320" y="158496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 Spectrum</a:t>
            </a:r>
            <a:endParaRPr lang="en-US" sz="1733" dirty="0"/>
          </a:p>
        </p:txBody>
      </p:sp>
      <p:sp>
        <p:nvSpPr>
          <p:cNvPr id="6" name="Shape 3"/>
          <p:cNvSpPr/>
          <p:nvPr/>
        </p:nvSpPr>
        <p:spPr>
          <a:xfrm>
            <a:off x="8656320" y="2072640"/>
            <a:ext cx="3291840" cy="670560"/>
          </a:xfrm>
          <a:prstGeom prst="rect">
            <a:avLst/>
          </a:prstGeom>
          <a:solidFill>
            <a:srgbClr val="636E72">
              <a:alpha val="15000"/>
            </a:srgbClr>
          </a:solidFill>
          <a:ln w="10160">
            <a:solidFill>
              <a:srgbClr val="636E7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4"/>
          <p:cNvSpPr/>
          <p:nvPr/>
        </p:nvSpPr>
        <p:spPr>
          <a:xfrm>
            <a:off x="8753856" y="2097024"/>
            <a:ext cx="31089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External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Complying to avoid consequences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656320" y="2865120"/>
            <a:ext cx="3291840" cy="670560"/>
          </a:xfrm>
          <a:prstGeom prst="rect">
            <a:avLst/>
          </a:prstGeom>
          <a:solidFill>
            <a:srgbClr val="6D2E46">
              <a:alpha val="15000"/>
            </a:srgbClr>
          </a:solidFill>
          <a:ln w="1016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6"/>
          <p:cNvSpPr/>
          <p:nvPr/>
        </p:nvSpPr>
        <p:spPr>
          <a:xfrm>
            <a:off x="8753856" y="2889504"/>
            <a:ext cx="31089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Introjected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Acting to avoid guilt/shame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56320" y="3657600"/>
            <a:ext cx="3291840" cy="670560"/>
          </a:xfrm>
          <a:prstGeom prst="rect">
            <a:avLst/>
          </a:prstGeom>
          <a:solidFill>
            <a:srgbClr val="F9A03F">
              <a:alpha val="15000"/>
            </a:srgbClr>
          </a:solidFill>
          <a:ln w="1016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8"/>
          <p:cNvSpPr/>
          <p:nvPr/>
        </p:nvSpPr>
        <p:spPr>
          <a:xfrm>
            <a:off x="8753856" y="3681984"/>
            <a:ext cx="31089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Sees personal value in doing it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656320" y="4450080"/>
            <a:ext cx="3291840" cy="670560"/>
          </a:xfrm>
          <a:prstGeom prst="rect">
            <a:avLst/>
          </a:prstGeom>
          <a:solidFill>
            <a:srgbClr val="F96167">
              <a:alpha val="15000"/>
            </a:srgbClr>
          </a:solidFill>
          <a:ln w="1016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8753856" y="4474464"/>
            <a:ext cx="31089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Part of professional identity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656320" y="5242560"/>
            <a:ext cx="3291840" cy="670560"/>
          </a:xfrm>
          <a:prstGeom prst="rect">
            <a:avLst/>
          </a:prstGeom>
          <a:solidFill>
            <a:srgbClr val="028090">
              <a:alpha val="15000"/>
            </a:srgbClr>
          </a:solidFill>
          <a:ln w="101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2"/>
          <p:cNvSpPr/>
          <p:nvPr/>
        </p:nvSpPr>
        <p:spPr>
          <a:xfrm>
            <a:off x="8753856" y="5266944"/>
            <a:ext cx="31089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Intrinsic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Genuinely enjoys the activity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" y="6242303"/>
            <a:ext cx="11094720" cy="471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L&amp;D mistake: designing the same intervention for all stages. Mandated adoption deepens External Regulation — it doesn't move people toward Integrated or Intrinsic.</a:t>
            </a:r>
            <a:endParaRPr lang="en-US" sz="1467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D7E525E9-61DF-7CB3-C081-3C28FC1D0031}"/>
              </a:ext>
            </a:extLst>
          </p:cNvPr>
          <p:cNvSpPr/>
          <p:nvPr/>
        </p:nvSpPr>
        <p:spPr>
          <a:xfrm>
            <a:off x="8411926" y="2076056"/>
            <a:ext cx="427274" cy="38790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Recommendations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1030226"/>
            <a:ext cx="10972800" cy="3535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One intervention per profile — matched to MOJO gap and SDT stage</a:t>
            </a:r>
            <a:endParaRPr lang="en-US" sz="1733" dirty="0"/>
          </a:p>
        </p:txBody>
      </p:sp>
      <p:sp>
        <p:nvSpPr>
          <p:cNvPr id="4" name="Shape 2"/>
          <p:cNvSpPr/>
          <p:nvPr/>
        </p:nvSpPr>
        <p:spPr>
          <a:xfrm>
            <a:off x="487680" y="1682496"/>
            <a:ext cx="11216640" cy="877824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487680" y="1682496"/>
            <a:ext cx="73152" cy="87782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55904" y="1905000"/>
            <a:ext cx="243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Adopter</a:t>
            </a:r>
            <a:endParaRPr lang="en-US" sz="1533" dirty="0"/>
          </a:p>
        </p:txBody>
      </p:sp>
      <p:sp>
        <p:nvSpPr>
          <p:cNvPr id="7" name="Text 5"/>
          <p:cNvSpPr/>
          <p:nvPr/>
        </p:nvSpPr>
        <p:spPr>
          <a:xfrm>
            <a:off x="755904" y="2270760"/>
            <a:ext cx="243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n=30 · SDT: Integrated · Gap: Opportunity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804416"/>
            <a:ext cx="36576" cy="633984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3474720" y="1804416"/>
            <a:ext cx="80467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communities of practice · Fast-track AI policy approvals · Peer showcase opportunities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87680" y="2682240"/>
            <a:ext cx="11216640" cy="877824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487680" y="2682240"/>
            <a:ext cx="73152" cy="877824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755904" y="2904744"/>
            <a:ext cx="243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but Blocked</a:t>
            </a:r>
            <a:endParaRPr lang="en-US" sz="1533" dirty="0"/>
          </a:p>
        </p:txBody>
      </p:sp>
      <p:sp>
        <p:nvSpPr>
          <p:cNvPr id="13" name="Text 11"/>
          <p:cNvSpPr/>
          <p:nvPr/>
        </p:nvSpPr>
        <p:spPr>
          <a:xfrm>
            <a:off x="755904" y="3270504"/>
            <a:ext cx="243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n=40 · SDT: Identified · Gap: Opportunity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2804160"/>
            <a:ext cx="36576" cy="633984"/>
          </a:xfrm>
          <a:prstGeom prst="rect">
            <a:avLst/>
          </a:prstGeom>
          <a:solidFill>
            <a:srgbClr val="F96167">
              <a:alpha val="3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3474720" y="2804160"/>
            <a:ext cx="80467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learning time (1hr/wk) · Published approved tool guide · Coach managers to model AI use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87680" y="3681984"/>
            <a:ext cx="11216640" cy="877824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487680" y="3681984"/>
            <a:ext cx="73152" cy="877824"/>
          </a:xfrm>
          <a:prstGeom prst="rect">
            <a:avLst/>
          </a:prstGeom>
          <a:solidFill>
            <a:srgbClr val="F9A03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755904" y="3904488"/>
            <a:ext cx="243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Overwhelmed Learner</a:t>
            </a:r>
            <a:endParaRPr lang="en-US" sz="1533" dirty="0"/>
          </a:p>
        </p:txBody>
      </p:sp>
      <p:sp>
        <p:nvSpPr>
          <p:cNvPr id="19" name="Text 17"/>
          <p:cNvSpPr/>
          <p:nvPr/>
        </p:nvSpPr>
        <p:spPr>
          <a:xfrm>
            <a:off x="755904" y="4270248"/>
            <a:ext cx="243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n=40 · SDT: Introjected · Gap: Job Capability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3803904"/>
            <a:ext cx="36576" cy="633984"/>
          </a:xfrm>
          <a:prstGeom prst="rect">
            <a:avLst/>
          </a:prstGeom>
          <a:solidFill>
            <a:srgbClr val="F9A03F">
              <a:alpha val="3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3474720" y="3803904"/>
            <a:ext cx="80467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AI starter kits · Peer mentoring with Eager Adopters · Short-format 10-min practice videos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87680" y="4681728"/>
            <a:ext cx="11216640" cy="877824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Shape 21"/>
          <p:cNvSpPr/>
          <p:nvPr/>
        </p:nvSpPr>
        <p:spPr>
          <a:xfrm>
            <a:off x="487680" y="4681728"/>
            <a:ext cx="73152" cy="877824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755904" y="4904232"/>
            <a:ext cx="243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Skeptical Observer</a:t>
            </a:r>
            <a:endParaRPr lang="en-US" sz="1533" dirty="0"/>
          </a:p>
        </p:txBody>
      </p:sp>
      <p:sp>
        <p:nvSpPr>
          <p:cNvPr id="25" name="Text 23"/>
          <p:cNvSpPr/>
          <p:nvPr/>
        </p:nvSpPr>
        <p:spPr>
          <a:xfrm>
            <a:off x="755904" y="5269992"/>
            <a:ext cx="243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n=35 · SDT: External · Gap: Motivation (belief)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0" y="4803648"/>
            <a:ext cx="36576" cy="633984"/>
          </a:xfrm>
          <a:prstGeom prst="rect">
            <a:avLst/>
          </a:prstGeom>
          <a:solidFill>
            <a:srgbClr val="6D2E46">
              <a:alpha val="3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3474720" y="4803648"/>
            <a:ext cx="80467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evidence · Transparent AI evaluation criteria · Low-stakes voluntary pilot programs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87680" y="5681472"/>
            <a:ext cx="11216640" cy="877824"/>
          </a:xfrm>
          <a:prstGeom prst="rect">
            <a:avLst/>
          </a:prstGeom>
          <a:solidFill>
            <a:srgbClr val="F8FAFC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Shape 27"/>
          <p:cNvSpPr/>
          <p:nvPr/>
        </p:nvSpPr>
        <p:spPr>
          <a:xfrm>
            <a:off x="487680" y="5681472"/>
            <a:ext cx="73152" cy="877824"/>
          </a:xfrm>
          <a:prstGeom prst="rect">
            <a:avLst/>
          </a:prstGeom>
          <a:solidFill>
            <a:srgbClr val="636E7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755904" y="5903976"/>
            <a:ext cx="243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Mandated but Disengaged</a:t>
            </a:r>
            <a:endParaRPr lang="en-US" sz="1533" dirty="0"/>
          </a:p>
        </p:txBody>
      </p:sp>
      <p:sp>
        <p:nvSpPr>
          <p:cNvPr id="31" name="Text 29"/>
          <p:cNvSpPr/>
          <p:nvPr/>
        </p:nvSpPr>
        <p:spPr>
          <a:xfrm>
            <a:off x="755904" y="6269736"/>
            <a:ext cx="243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n=35 · SDT: External · Gap: Motivation (meaning)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91840" y="5803392"/>
            <a:ext cx="36576" cy="633984"/>
          </a:xfrm>
          <a:prstGeom prst="rect">
            <a:avLst/>
          </a:prstGeom>
          <a:solidFill>
            <a:srgbClr val="636E72">
              <a:alpha val="3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3474720" y="5803392"/>
            <a:ext cx="80467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to invitation over mandate · Connect to outcomes they care about · Co-design the rollout with them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48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 for Pattern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897815"/>
            <a:ext cx="10972800" cy="2865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gain when you stop treating 5 populations as one</a:t>
            </a:r>
            <a:endParaRPr lang="en-US" sz="1867" dirty="0"/>
          </a:p>
        </p:txBody>
      </p:sp>
      <p:sp>
        <p:nvSpPr>
          <p:cNvPr id="4" name="Shape 2"/>
          <p:cNvSpPr/>
          <p:nvPr/>
        </p:nvSpPr>
        <p:spPr>
          <a:xfrm>
            <a:off x="487680" y="2011680"/>
            <a:ext cx="11216640" cy="950976"/>
          </a:xfrm>
          <a:prstGeom prst="rect">
            <a:avLst/>
          </a:prstGeom>
          <a:solidFill>
            <a:srgbClr val="122030"/>
          </a:solidFill>
          <a:ln w="635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487680" y="2011680"/>
            <a:ext cx="73152" cy="950976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07136" y="2182707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Without: One training program for all employees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707136" y="2665307"/>
            <a:ext cx="7071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With: Role-specific kits for Overwhelmed Learners (n=40) who actually need skills</a:t>
            </a:r>
            <a:endParaRPr lang="en-US" sz="1867" b="1" dirty="0">
              <a:solidFill>
                <a:srgbClr val="92D05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924800" y="2494957"/>
            <a:ext cx="3535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Budget efficiency — don't train people who are already capable</a:t>
            </a:r>
            <a:endParaRPr lang="en-US" sz="1867" dirty="0">
              <a:solidFill>
                <a:srgbClr val="00B05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3084576"/>
            <a:ext cx="11216640" cy="950976"/>
          </a:xfrm>
          <a:prstGeom prst="rect">
            <a:avLst/>
          </a:prstGeom>
          <a:solidFill>
            <a:srgbClr val="122030"/>
          </a:solidFill>
          <a:ln w="635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487680" y="3084576"/>
            <a:ext cx="73152" cy="950976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707136" y="3238669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Without: Expand AI tool access company-wide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707136" y="3670469"/>
            <a:ext cx="7071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With: Target access improvements to Willing but Blocked (n=40) with high motivation</a:t>
            </a:r>
            <a:endParaRPr lang="en-US" sz="1867" b="1" dirty="0">
              <a:solidFill>
                <a:srgbClr val="92D05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24800" y="3567853"/>
            <a:ext cx="3535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Better ROI — Skeptics won't use access they distrust</a:t>
            </a:r>
            <a:endParaRPr lang="en-US" sz="1867" dirty="0">
              <a:solidFill>
                <a:srgbClr val="00B05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4157472"/>
            <a:ext cx="11216640" cy="950976"/>
          </a:xfrm>
          <a:prstGeom prst="rect">
            <a:avLst/>
          </a:prstGeom>
          <a:solidFill>
            <a:srgbClr val="122030"/>
          </a:solidFill>
          <a:ln w="635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487680" y="4157472"/>
            <a:ext cx="73152" cy="9509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707136" y="4353899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Without: Send another 'AI adoption is important' all-hands message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707136" y="4819565"/>
            <a:ext cx="7071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With: Engage Mandated but Disengaged through co-design, not mandate</a:t>
            </a:r>
            <a:endParaRPr lang="en-US" sz="1867" b="1" dirty="0">
              <a:solidFill>
                <a:srgbClr val="92D05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24800" y="4640749"/>
            <a:ext cx="3535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Trust — mandates deepen disengagement in this group</a:t>
            </a:r>
            <a:endParaRPr lang="en-US" sz="1867" dirty="0">
              <a:solidFill>
                <a:srgbClr val="00B050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5230368"/>
            <a:ext cx="11216640" cy="950976"/>
          </a:xfrm>
          <a:prstGeom prst="rect">
            <a:avLst/>
          </a:prstGeom>
          <a:solidFill>
            <a:srgbClr val="122030"/>
          </a:solidFill>
          <a:ln w="635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487680" y="5230368"/>
            <a:ext cx="73152" cy="9509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707136" y="5486061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Without: Survey report archived after quarterly business review</a:t>
            </a:r>
            <a:endParaRPr lang="en-US" sz="1867" dirty="0"/>
          </a:p>
        </p:txBody>
      </p:sp>
      <p:sp>
        <p:nvSpPr>
          <p:cNvPr id="22" name="Text 20"/>
          <p:cNvSpPr/>
          <p:nvPr/>
        </p:nvSpPr>
        <p:spPr>
          <a:xfrm>
            <a:off x="707136" y="5934795"/>
            <a:ext cx="7071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With: Segmented strategy mapped to specific interventions per profile</a:t>
            </a:r>
            <a:endParaRPr lang="en-US" sz="1867" b="1" dirty="0">
              <a:solidFill>
                <a:srgbClr val="92D05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7924800" y="5713645"/>
            <a:ext cx="3535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 — stakeholders know exactly what to do and for whom</a:t>
            </a:r>
            <a:endParaRPr lang="en-US" sz="1867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Run This In Your Organization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996359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full workflow is replicable with open-source tools</a:t>
            </a:r>
            <a:endParaRPr lang="en-US" sz="1733" dirty="0"/>
          </a:p>
        </p:txBody>
      </p:sp>
      <p:sp>
        <p:nvSpPr>
          <p:cNvPr id="4" name="Shape 2"/>
          <p:cNvSpPr/>
          <p:nvPr/>
        </p:nvSpPr>
        <p:spPr>
          <a:xfrm>
            <a:off x="487680" y="1767840"/>
            <a:ext cx="365760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487680" y="1767840"/>
            <a:ext cx="73152" cy="20726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33984" y="1889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70560" y="1914144"/>
            <a:ext cx="335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Survey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670560" y="2401824"/>
            <a:ext cx="335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questions to MOJO dimensions. Include 3+ open-ended items. Aim for n≥80.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4389120" y="1767840"/>
            <a:ext cx="365760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4389120" y="1767840"/>
            <a:ext cx="73152" cy="2072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535424" y="1889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0" y="1914144"/>
            <a:ext cx="335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4572000" y="2401824"/>
            <a:ext cx="335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survey platform. Export to CSV. No special tooling needed.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8290560" y="1767840"/>
            <a:ext cx="365760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8290560" y="1767840"/>
            <a:ext cx="73152" cy="20726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8436864" y="1889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73440" y="1914144"/>
            <a:ext cx="335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CPA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8473440" y="2401824"/>
            <a:ext cx="335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(numpy + pandas). PCA via SVD. K-Means from scratch or sklearn. Notebook provided.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487680" y="4145280"/>
            <a:ext cx="365760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487680" y="4145280"/>
            <a:ext cx="73152" cy="2072640"/>
          </a:xfrm>
          <a:prstGeom prst="rect">
            <a:avLst/>
          </a:prstGeom>
          <a:solidFill>
            <a:srgbClr val="F9A03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633984" y="426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0560" y="4291584"/>
            <a:ext cx="335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NMF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670560" y="4779264"/>
            <a:ext cx="335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on open-ended text. NMF factorization. Label topics based on top words.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4389120" y="4145280"/>
            <a:ext cx="365760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4389120" y="4145280"/>
            <a:ext cx="73152" cy="207264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4535424" y="426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572000" y="4291584"/>
            <a:ext cx="335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MOJO</a:t>
            </a:r>
            <a:endParaRPr lang="en-US" sz="1733" dirty="0"/>
          </a:p>
        </p:txBody>
      </p:sp>
      <p:sp>
        <p:nvSpPr>
          <p:cNvPr id="28" name="Text 26"/>
          <p:cNvSpPr/>
          <p:nvPr/>
        </p:nvSpPr>
        <p:spPr>
          <a:xfrm>
            <a:off x="4572000" y="4779264"/>
            <a:ext cx="335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each MOJO dimension by cluster. Build heatmap. Find the MOJO gap.</a:t>
            </a:r>
            <a:endParaRPr lang="en-US" sz="1467" dirty="0"/>
          </a:p>
        </p:txBody>
      </p:sp>
      <p:sp>
        <p:nvSpPr>
          <p:cNvPr id="29" name="Shape 27"/>
          <p:cNvSpPr/>
          <p:nvPr/>
        </p:nvSpPr>
        <p:spPr>
          <a:xfrm>
            <a:off x="8290560" y="4145280"/>
            <a:ext cx="3657600" cy="2072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8290560" y="4145280"/>
            <a:ext cx="73152" cy="2072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8436864" y="426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473440" y="4291584"/>
            <a:ext cx="335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by SDT Stage</a:t>
            </a:r>
            <a:endParaRPr lang="en-US" sz="1733" dirty="0"/>
          </a:p>
        </p:txBody>
      </p:sp>
      <p:sp>
        <p:nvSpPr>
          <p:cNvPr id="33" name="Text 31"/>
          <p:cNvSpPr/>
          <p:nvPr/>
        </p:nvSpPr>
        <p:spPr>
          <a:xfrm>
            <a:off x="8473440" y="4779264"/>
            <a:ext cx="335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SDT stage to profile. Design intervention for that motivation level.</a:t>
            </a:r>
            <a:endParaRPr lang="en-US" sz="1467" dirty="0"/>
          </a:p>
        </p:txBody>
      </p:sp>
      <p:sp>
        <p:nvSpPr>
          <p:cNvPr id="34" name="Text 32"/>
          <p:cNvSpPr/>
          <p:nvPr/>
        </p:nvSpPr>
        <p:spPr>
          <a:xfrm>
            <a:off x="548640" y="6364224"/>
            <a:ext cx="11094720" cy="248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code available in the Jupyter notebook · No specialized ML platform required · Runs on standard Python stack</a:t>
            </a:r>
            <a:endParaRPr lang="en-US" sz="1333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Direction</a:t>
            </a:r>
            <a:endParaRPr lang="en-US" sz="5333" dirty="0"/>
          </a:p>
        </p:txBody>
      </p:sp>
      <p:sp>
        <p:nvSpPr>
          <p:cNvPr id="4" name="Text 2"/>
          <p:cNvSpPr/>
          <p:nvPr/>
        </p:nvSpPr>
        <p:spPr>
          <a:xfrm>
            <a:off x="609600" y="1132842"/>
            <a:ext cx="10363200" cy="330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never analysis for its own sake — it's the decision it enables.</a:t>
            </a:r>
            <a:endParaRPr lang="en-US" sz="2667" dirty="0">
              <a:solidFill>
                <a:srgbClr val="00B05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2316480"/>
            <a:ext cx="60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>
              <a:solidFill>
                <a:srgbClr val="00B050"/>
              </a:solidFill>
              <a:latin typeface="Candara" panose="020E0502030303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41120" y="2316480"/>
            <a:ext cx="999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Averages mask the variation that makes interventions fail — always look for subgroups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3023616"/>
            <a:ext cx="60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>
              <a:solidFill>
                <a:srgbClr val="00B050"/>
              </a:solidFill>
              <a:latin typeface="Candara" panose="020E0502030303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41120" y="3023616"/>
            <a:ext cx="999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CPA reveals who thinks alike without requiring pre-defined categories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3730752"/>
            <a:ext cx="60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>
              <a:solidFill>
                <a:srgbClr val="00B050"/>
              </a:solidFill>
              <a:latin typeface="Candara" panose="020E0502030303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41120" y="3730752"/>
            <a:ext cx="999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NMF gives voice to what people are saying — not just what scores they gave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4437888"/>
            <a:ext cx="60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>
              <a:solidFill>
                <a:srgbClr val="00B050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41120" y="4437888"/>
            <a:ext cx="999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MOJO tells you where to focus — motivation, opportunity, capability, or outcome (goals)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5145024"/>
            <a:ext cx="60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>
              <a:solidFill>
                <a:srgbClr val="00B050"/>
              </a:solidFill>
              <a:latin typeface="Candara" panose="020E0502030303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41120" y="5145024"/>
            <a:ext cx="999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SDT stage determines HOW you pull that lever — mandate vs. invite vs. showcase</a:t>
            </a:r>
            <a:endParaRPr lang="en-US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12715</TotalTime>
  <Words>2668</Words>
  <Application>Microsoft Office PowerPoint</Application>
  <PresentationFormat>Widescreen</PresentationFormat>
  <Paragraphs>398</Paragraphs>
  <Slides>44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Candara</vt:lpstr>
      <vt:lpstr>Consolas</vt:lpstr>
      <vt:lpstr>Source Sans 3</vt:lpstr>
      <vt:lpstr>Tech Computer 16x9</vt:lpstr>
      <vt:lpstr>Speaking Data: The Language of Impact and Behavior Change</vt:lpstr>
      <vt:lpstr>Scenario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Human-Only Approach </vt:lpstr>
      <vt:lpstr>PowerPoint Presentation</vt:lpstr>
      <vt:lpstr>PowerPoint Presentation</vt:lpstr>
      <vt:lpstr>PowerPoint Presentation</vt:lpstr>
      <vt:lpstr>AI-Only Approach </vt:lpstr>
      <vt:lpstr>PowerPoint Presentation</vt:lpstr>
      <vt:lpstr>PowerPoint Presentation</vt:lpstr>
      <vt:lpstr>PowerPoint Presentation</vt:lpstr>
      <vt:lpstr>AI-Powered Human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Qualitative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Word on Motivation</vt:lpstr>
      <vt:lpstr>Self-Determination Theory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Zsolt Oláh</dc:creator>
  <cp:lastModifiedBy>Zsolt Oláh</cp:lastModifiedBy>
  <cp:revision>9</cp:revision>
  <dcterms:created xsi:type="dcterms:W3CDTF">2026-03-19T10:36:31Z</dcterms:created>
  <dcterms:modified xsi:type="dcterms:W3CDTF">2026-04-14T19:53:02Z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